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73152" cy="5257800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20116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E0A643"/>
                </a:solidFill>
                <a:latin typeface="Aptos"/>
              </a:rPr>
              <a:t>BUỔI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5943600" cy="1417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AI Compliance
&amp;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900" b="0">
                <a:solidFill>
                  <a:srgbClr val="DCE8E5"/>
                </a:solidFill>
                <a:latin typeface="Aptos"/>
              </a:rPr>
              <a:t>Từ quy định phân tán đến bằng chứng kiểm toán có kiểm soát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590288"/>
            <a:ext cx="2331720" cy="329184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636007"/>
            <a:ext cx="233172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UC3  COMPLIANCE CHECKER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4590288"/>
            <a:ext cx="2148840" cy="329184"/>
          </a:xfrm>
          <a:prstGeom prst="roundRect">
            <a:avLst>
              <a:gd name="adj" fmla="val 12000"/>
            </a:avLst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4636007"/>
            <a:ext cx="214884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UC4  AUDIT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ED2CF"/>
                </a:solidFill>
                <a:latin typeface="Aptos"/>
              </a:rPr>
              <a:t>Agribank internal policies  ·  legal evidence  ·  RBAC  · 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914400"/>
            <a:ext cx="3886200" cy="4526280"/>
          </a:xfrm>
          <a:prstGeom prst="roundRect">
            <a:avLst>
              <a:gd name="adj" fmla="val 12000"/>
            </a:avLst>
          </a:prstGeom>
          <a:solidFill>
            <a:srgbClr val="1F3B49"/>
          </a:solidFill>
          <a:ln>
            <a:solidFill>
              <a:srgbClr val="1F3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29718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GOVERNED
DECISION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2331720"/>
            <a:ext cx="3063240" cy="59436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2423160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2316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5B6968"/>
                </a:solidFill>
                <a:latin typeface="Aptos"/>
              </a:rPr>
              <a:t>policy + law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44000" y="2999232"/>
            <a:ext cx="41148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45552" y="3246120"/>
            <a:ext cx="3063240" cy="59436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337560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3756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5B6968"/>
                </a:solidFill>
                <a:latin typeface="Aptos"/>
              </a:rPr>
              <a:t>citation + article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144000" y="3913631"/>
            <a:ext cx="41148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45552" y="4160520"/>
            <a:ext cx="3063240" cy="59436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4251959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251959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5B6968"/>
                </a:solidFill>
                <a:latin typeface="Aptos"/>
              </a:rPr>
              <a:t>human in the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Bài toán: tìm đúng quy định, đúng quyền, đúng bằng chứng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659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01 · PHÂN TÁN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87168"/>
            <a:ext cx="2697480" cy="7315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E2A2E"/>
                </a:solidFill>
                <a:latin typeface="Georgia"/>
              </a:rPr>
              <a:t>Nội bộ + pháp luật
ở nhiều nguồn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7" y="3310128"/>
            <a:ext cx="1828800" cy="36576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169164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9659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02 · RỦI 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487168"/>
            <a:ext cx="2697480" cy="7315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E2A2E"/>
                </a:solidFill>
                <a:latin typeface="Georgia"/>
              </a:rPr>
              <a:t>Mâu thuẫn hạn mức,
quy trình, thẩm quyền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3310128"/>
            <a:ext cx="1828800" cy="36576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0" y="169164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8" y="19659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03 · KIỂM SOÁT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2487168"/>
            <a:ext cx="2697480" cy="7315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E2A2E"/>
                </a:solidFill>
                <a:latin typeface="Georgia"/>
              </a:rPr>
              <a:t>Citation thật + RBAC
+ human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82128" y="3310128"/>
            <a:ext cx="1828800" cy="36576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3657600" y="2560320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178040" y="2560320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104241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100" b="1">
                <a:solidFill>
                  <a:srgbClr val="162A3A"/>
                </a:solidFill>
                <a:latin typeface="Georgia"/>
              </a:rPr>
              <a:t>Mục tiêu: biến truy xuất quy định thành một quy trình có thể kiểm chứng, truy vết và bàn giao cho kiểm toán viên.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Dữ liệu nền: đủ rộng để đối chiếu, đủ chặt để kiểm soát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chunks nội bộ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811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chunks kết hợp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domain nội bộ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600200"/>
            <a:ext cx="2057400" cy="1481328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847088"/>
            <a:ext cx="205740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100" b="1">
                <a:solidFill>
                  <a:srgbClr val="162A3A"/>
                </a:solidFill>
                <a:latin typeface="Georgia"/>
              </a:rPr>
              <a:t>14/14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606040"/>
            <a:ext cx="1783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5B6968"/>
                </a:solidFill>
                <a:latin typeface="Aptos"/>
              </a:rPr>
              <a:t>metadata đầy đủ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67328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A7775"/>
                </a:solidFill>
                <a:latin typeface="Aptos"/>
              </a:rPr>
              <a:t>Các trường kiểm soát quan trọng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60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article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297680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0" y="4297680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224528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811/811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27448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citation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773168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4773168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700016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811/811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02936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allowed_roles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248656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0" y="5248656"/>
            <a:ext cx="5029200" cy="146304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175504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811/811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251960"/>
            <a:ext cx="3017520" cy="10058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000" b="1">
                <a:solidFill>
                  <a:srgbClr val="162A3A"/>
                </a:solidFill>
                <a:latin typeface="Georgia"/>
              </a:rPr>
              <a:t>Nguồn được đọc read-only; citation và quyền truy cập nằm trong metadata thật.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Kiến trúc kiểm soát: lọc quyền trước khi tìm kiếm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NGƯỜI DÙNG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role + request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44368" y="2395728"/>
            <a:ext cx="384048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allowed_roles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33288" y="2395728"/>
            <a:ext cx="384048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BM25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evidence ranking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22208" y="2395728"/>
            <a:ext cx="384048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59" y="1874519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CC574B"/>
          </a:solidFill>
          <a:ln>
            <a:solidFill>
              <a:srgbClr val="CC5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7" y="2148840"/>
            <a:ext cx="1975104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LLM /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7" y="2606040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JSON 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1363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A7775"/>
                </a:solidFill>
                <a:latin typeface="Aptos"/>
              </a:rPr>
              <a:t>Evidence package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15968"/>
            <a:ext cx="10561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CITATION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ARTICLE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454456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REVIEW_STATUS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13832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62A3A"/>
                </a:solidFill>
                <a:latin typeface="Aptos"/>
              </a:rPr>
              <a:t>Không có chunk được phép truy cập thì không được đưa vào retrieval hoặc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UC3 · Compliance Checker: đối chiếu hai phía của quy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A7775"/>
                </a:solidFill>
                <a:latin typeface="Aptos"/>
              </a:rPr>
              <a:t>Văn bản nội bộ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4069080" cy="196596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62A3A"/>
                </a:solidFill>
                <a:latin typeface="Georgia"/>
              </a:rPr>
              <a:t>100/QĐ-NHNO-AT
250/QĐ-NHNO-QLRR
315/QC-NHNO-TD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01568"/>
            <a:ext cx="3383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5B6968"/>
                </a:solidFill>
                <a:latin typeface="Aptos"/>
              </a:rPr>
              <a:t>hạn mức · phương tiện · thẩm quyền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74920" y="2606040"/>
            <a:ext cx="91440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15468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1">
                <a:solidFill>
                  <a:srgbClr val="162A3A"/>
                </a:solidFill>
                <a:latin typeface="Aptos"/>
              </a:rPr>
              <a:t>Evidence
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CC574B"/>
                </a:solidFill>
                <a:latin typeface="Aptos"/>
              </a:rPr>
              <a:t>Văn bản pháp luật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96596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331720"/>
            <a:ext cx="4069080" cy="8229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100" b="1">
                <a:solidFill>
                  <a:srgbClr val="162A3A"/>
                </a:solidFill>
                <a:latin typeface="Georgia"/>
              </a:rPr>
              <a:t>01/2014/TT-NHNN
41/2016/TT-NHNN
Nghị định / Luật liên quan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01568"/>
            <a:ext cx="4069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5B6968"/>
                </a:solidFill>
                <a:latin typeface="Aptos"/>
              </a:rPr>
              <a:t>điều · khoản · hiệu lực · phạm vi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709160"/>
            <a:ext cx="10241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901184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A7775"/>
                </a:solidFill>
                <a:latin typeface="Aptos"/>
              </a:rPr>
              <a:t>Kết quả 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901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62A3A"/>
                </a:solidFill>
                <a:latin typeface="Aptos"/>
              </a:rPr>
              <a:t>3 findings  ·  Citation PASS  ·  Human review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UC4 · Audit Checklist: từ điều khoản đến câu hỏi kiểm toán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A7775"/>
                </a:solidFill>
                <a:latin typeface="Aptos"/>
              </a:rPr>
              <a:t>An toàn kho quỹ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CC574B"/>
                </a:solidFill>
                <a:latin typeface="Aptos"/>
              </a:rPr>
              <a:t>Bảo mật CNTT &amp;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5074920" cy="283464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21284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21284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Xe bọc thép / phương án bảo vệ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18541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23113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94436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94436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Kiểm đếm / niêm phong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291693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96265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675887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675887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Ban quản lý kho tiền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64845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69417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MEDIUM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920240"/>
            <a:ext cx="5074920" cy="283464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21284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21284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Mã hóa dữ liệu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61320" y="218541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223113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294436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162A3A"/>
                </a:solidFill>
                <a:latin typeface="Aptos"/>
              </a:rPr>
              <a:t>CHK_02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944368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E2A2E"/>
                </a:solidFill>
                <a:latin typeface="Aptos"/>
              </a:rPr>
              <a:t>Lưu audit trail 12 tháng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2916936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2962656"/>
            <a:ext cx="5943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62A3A"/>
                </a:solidFill>
                <a:latin typeface="Aptos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85232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62A3A"/>
                </a:solidFill>
                <a:latin typeface="Georgia"/>
              </a:rPr>
              <a:t>Kết quả P3: 6 items · citations attached · mọi item cần xác minh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Guardrails: AI có thể gợi ý, nhưng không tự phê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56232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874519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31343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Staff không thấy dữ liệu restricted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0020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56232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874519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CITATION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31343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Citation phải tồn tại trong corpus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840480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27939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Log không chứa secret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566160"/>
            <a:ext cx="4892040" cy="141732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822191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A7775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840480"/>
            <a:ext cx="2011680" cy="24688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62A3A"/>
                </a:solidFill>
                <a:latin typeface="Aptos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27939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Aptos"/>
              </a:rPr>
              <a:t>NEEDS_HUMAN_REVIEW luôn bật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000" b="1">
                <a:solidFill>
                  <a:srgbClr val="1A7775"/>
                </a:solidFill>
                <a:latin typeface="Georgia"/>
              </a:rPr>
              <a:t>P5 SECURITY &amp; GUARDRAIL TESTS: 7/7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Streamlit workbench: ba luồng trong một màn hình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2606040" cy="201168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75104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A7775"/>
                </a:solidFill>
                <a:latin typeface="Aptos"/>
              </a:rPr>
              <a:t>UC3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162A3A"/>
                </a:solidFill>
                <a:latin typeface="Georgia"/>
              </a:rPr>
              <a:t>Compliance
Checker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31012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5584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691640"/>
            <a:ext cx="2606040" cy="201168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975104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62A3A"/>
                </a:solidFill>
                <a:latin typeface="Aptos"/>
              </a:rPr>
              <a:t>UC4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542032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162A3A"/>
                </a:solidFill>
                <a:latin typeface="Georgia"/>
              </a:rPr>
              <a:t>Audit
Checklist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31012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35584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EXPORT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691640"/>
            <a:ext cx="2606040" cy="201168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975104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CC574B"/>
                </a:solidFill>
                <a:latin typeface="Aptos"/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542032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162A3A"/>
                </a:solidFill>
                <a:latin typeface="Georgia"/>
              </a:rPr>
              <a:t>System
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31012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35584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1A7775"/>
                </a:solidFill>
                <a:latin typeface="Aptos"/>
              </a:rPr>
              <a:t>EXPORT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456432" y="2578608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6693408" y="2578608"/>
            <a:ext cx="384048" cy="292608"/>
          </a:xfrm>
          <a:prstGeom prst="rightArrow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1560" y="4343400"/>
            <a:ext cx="9966960" cy="82296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590288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E0A643"/>
                </a:solidFill>
                <a:latin typeface="Aptos"/>
              </a:rPr>
              <a:t>Banner cảnh báo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572000"/>
            <a:ext cx="713232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Kết quả gợi ý cần kiểm toán viên xác minh trước khi ban hành.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Kết quả kiểm thử: hệ thống đã sẵn sàng để trình diễn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91640"/>
            <a:ext cx="1920240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10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CATALOG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53512" y="1691640"/>
            <a:ext cx="1920240" cy="14630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2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E0A643"/>
                </a:solidFill>
                <a:latin typeface="Aptos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3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CHECKER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1224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1224" y="1691640"/>
            <a:ext cx="1920240" cy="146304"/>
          </a:xfrm>
          <a:prstGeom prst="rect">
            <a:avLst/>
          </a:prstGeom>
          <a:solidFill>
            <a:srgbClr val="CC574B"/>
          </a:solidFill>
          <a:ln>
            <a:solidFill>
              <a:srgbClr val="CC5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4104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CC574B"/>
                </a:solidFill>
                <a:latin typeface="Aptos"/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6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GENERATOR 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8936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88936" y="1691640"/>
            <a:ext cx="1920240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71815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A7775"/>
                </a:solidFill>
                <a:latin typeface="Aptos"/>
              </a:rPr>
              <a:t>P5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5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7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5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SECURITY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6648" y="169164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56648" y="1691640"/>
            <a:ext cx="1920240" cy="146304"/>
          </a:xfrm>
          <a:prstGeom prst="rect">
            <a:avLst/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9528" y="199339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62A3A"/>
                </a:solidFill>
                <a:latin typeface="Aptos"/>
              </a:rPr>
              <a:t>P6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468880"/>
            <a:ext cx="15544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162A3A"/>
                </a:solidFill>
                <a:latin typeface="Georgia"/>
              </a:rPr>
              <a:t>8 /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127248"/>
            <a:ext cx="15544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5B6968"/>
                </a:solidFill>
                <a:latin typeface="Aptos"/>
              </a:rPr>
              <a:t>VALIDATION PASS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315968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590288"/>
            <a:ext cx="9875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500" b="1">
                <a:solidFill>
                  <a:srgbClr val="1A7775"/>
                </a:solidFill>
                <a:latin typeface="Georgia"/>
              </a:rPr>
              <a:t>SYSTEM READY FOR DEMO: 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775"/>
          </a:solidFill>
          <a:ln>
            <a:solidFill>
              <a:srgbClr val="1A7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669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1A7775"/>
                </a:solidFill>
                <a:latin typeface="Aptos"/>
              </a:rPr>
              <a:t>BUỔI 18 / AI COMPLIANCE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62A3A"/>
                </a:solidFill>
                <a:latin typeface="Georgia"/>
              </a:rPr>
              <a:t>Thông điệp mang về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51560" cy="54864"/>
          </a:xfrm>
          <a:prstGeom prst="rect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6224" y="34747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162A3A"/>
          </a:solidFill>
          <a:ln>
            <a:solidFill>
              <a:srgbClr val="1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6224" y="448056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D7E0DA"/>
          </a:solidFill>
          <a:ln>
            <a:solidFill>
              <a:srgbClr val="D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5B6968"/>
                </a:solidFill>
                <a:latin typeface="Aptos"/>
              </a:rPr>
              <a:t>Kết quả AI là bản nháp hỗ trợ kiểm toán viên, không thay thế quyết định con người.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500" b="1">
                <a:solidFill>
                  <a:srgbClr val="162A3A"/>
                </a:solidFill>
                <a:latin typeface="Georgia"/>
              </a:rPr>
              <a:t>Một hệ thống compliance tốt không chỉ trả lời nhanh.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9784080" cy="9144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800" b="1">
                <a:solidFill>
                  <a:srgbClr val="1A7775"/>
                </a:solidFill>
                <a:latin typeface="Georgia"/>
              </a:rPr>
              <a:t>Nó phải trả lời từ đúng nguồn, đúng quyền,
đúng citation và đúng người chịu trách nhiệm cuối cùng.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SOURCE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64408" y="4233672"/>
            <a:ext cx="32004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47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FAEFCF"/>
          </a:solidFill>
          <a:ln>
            <a:solidFill>
              <a:srgbClr val="FAE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ACCESS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07608" y="4233672"/>
            <a:ext cx="32004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FAE1DC"/>
          </a:solidFill>
          <a:ln>
            <a:solidFill>
              <a:srgbClr val="F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EVIDENCE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50808" y="4233672"/>
            <a:ext cx="320040" cy="292608"/>
          </a:xfrm>
          <a:prstGeom prst="rightArrow">
            <a:avLst/>
          </a:prstGeom>
          <a:solidFill>
            <a:srgbClr val="E0A643"/>
          </a:solidFill>
          <a:ln>
            <a:solidFill>
              <a:srgbClr val="E0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1160" y="3977639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DAEFE7"/>
          </a:solidFill>
          <a:ln>
            <a:solidFill>
              <a:srgbClr val="DA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4251960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162A3A"/>
                </a:solidFill>
                <a:latin typeface="Aptos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486400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500" b="1">
                <a:solidFill>
                  <a:srgbClr val="E0A643"/>
                </a:solidFill>
                <a:latin typeface="Georgia"/>
              </a:rPr>
              <a:t>Cảm 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