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2A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0A643"/>
          </a:solidFill>
          <a:ln>
            <a:solidFill>
              <a:srgbClr val="E0A6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58368"/>
            <a:ext cx="2011680" cy="320040"/>
          </a:xfrm>
          <a:prstGeom prst="rect">
            <a:avLst/>
          </a:prstGeom>
          <a:noFill/>
        </p:spPr>
        <p:txBody>
          <a:bodyPr wrap="square" lIns="36576" rIns="36576" tIns="18288" anchor="t">
            <a:spAutoFit/>
          </a:bodyPr>
          <a:lstStyle/>
          <a:p>
            <a:pPr algn="l"/>
            <a:r>
              <a:rPr sz="1500" b="1">
                <a:solidFill>
                  <a:srgbClr val="E0A643"/>
                </a:solidFill>
                <a:latin typeface="Aptos"/>
              </a:rPr>
              <a:t>BUỔI 18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143000"/>
            <a:ext cx="5943600" cy="1417320"/>
          </a:xfrm>
          <a:prstGeom prst="rect">
            <a:avLst/>
          </a:prstGeom>
          <a:noFill/>
        </p:spPr>
        <p:txBody>
          <a:bodyPr wrap="square" lIns="36576" rIns="36576" tIns="18288" anchor="t">
            <a:spAutoFit/>
          </a:bodyPr>
          <a:lstStyle/>
          <a:p>
            <a:pPr algn="l"/>
            <a:r>
              <a:rPr sz="3800" b="1">
                <a:solidFill>
                  <a:srgbClr val="FFFFFF"/>
                </a:solidFill>
                <a:latin typeface="Georgia"/>
              </a:rPr>
              <a:t>AI Compliance
&amp; Audit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2880360"/>
            <a:ext cx="5212080" cy="502920"/>
          </a:xfrm>
          <a:prstGeom prst="rect">
            <a:avLst/>
          </a:prstGeom>
          <a:noFill/>
        </p:spPr>
        <p:txBody>
          <a:bodyPr wrap="square" lIns="36576" rIns="36576" tIns="18288" anchor="t">
            <a:spAutoFit/>
          </a:bodyPr>
          <a:lstStyle/>
          <a:p>
            <a:pPr algn="l"/>
            <a:r>
              <a:rPr sz="1900" b="0">
                <a:solidFill>
                  <a:srgbClr val="DCE8E5"/>
                </a:solidFill>
                <a:latin typeface="Aptos"/>
              </a:rPr>
              <a:t>Từ quy định phân tán đến bằng chứng kiểm toán có kiểm soát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60920" y="1024128"/>
            <a:ext cx="3337560" cy="713232"/>
          </a:xfrm>
          <a:prstGeom prst="roundRect">
            <a:avLst>
              <a:gd name="adj" fmla="val 12000"/>
            </a:avLst>
          </a:prstGeom>
          <a:solidFill>
            <a:srgbClr val="DAEFE7"/>
          </a:solidFill>
          <a:ln>
            <a:solidFill>
              <a:srgbClr val="DAEF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35240" y="1207008"/>
            <a:ext cx="2651760" cy="274320"/>
          </a:xfrm>
          <a:prstGeom prst="rect">
            <a:avLst/>
          </a:prstGeom>
          <a:noFill/>
        </p:spPr>
        <p:txBody>
          <a:bodyPr wrap="square" lIns="36576" rIns="36576" tIns="18288" anchor="t">
            <a:spAutoFit/>
          </a:bodyPr>
          <a:lstStyle/>
          <a:p>
            <a:pPr algn="ctr"/>
            <a:r>
              <a:rPr sz="1800" b="1">
                <a:solidFill>
                  <a:srgbClr val="162A3A"/>
                </a:solidFill>
                <a:latin typeface="Aptos"/>
              </a:rPr>
              <a:t>POLICY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525512" y="1874519"/>
            <a:ext cx="3337560" cy="713232"/>
          </a:xfrm>
          <a:prstGeom prst="roundRect">
            <a:avLst>
              <a:gd name="adj" fmla="val 12000"/>
            </a:avLst>
          </a:prstGeom>
          <a:solidFill>
            <a:srgbClr val="FAEFCF"/>
          </a:solidFill>
          <a:ln>
            <a:solidFill>
              <a:srgbClr val="FAEF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99831" y="2057400"/>
            <a:ext cx="2651760" cy="274320"/>
          </a:xfrm>
          <a:prstGeom prst="rect">
            <a:avLst/>
          </a:prstGeom>
          <a:noFill/>
        </p:spPr>
        <p:txBody>
          <a:bodyPr wrap="square" lIns="36576" rIns="36576" tIns="18288" anchor="t">
            <a:spAutoFit/>
          </a:bodyPr>
          <a:lstStyle/>
          <a:p>
            <a:pPr algn="ctr"/>
            <a:r>
              <a:rPr sz="1800" b="1">
                <a:solidFill>
                  <a:srgbClr val="162A3A"/>
                </a:solidFill>
                <a:latin typeface="Aptos"/>
              </a:rPr>
              <a:t>EVIDENCE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690104" y="2724912"/>
            <a:ext cx="3337560" cy="713232"/>
          </a:xfrm>
          <a:prstGeom prst="roundRect">
            <a:avLst>
              <a:gd name="adj" fmla="val 12000"/>
            </a:avLst>
          </a:prstGeom>
          <a:solidFill>
            <a:srgbClr val="FAE1DC"/>
          </a:solidFill>
          <a:ln>
            <a:solidFill>
              <a:srgbClr val="FAE1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964423" y="2907792"/>
            <a:ext cx="2651760" cy="274320"/>
          </a:xfrm>
          <a:prstGeom prst="rect">
            <a:avLst/>
          </a:prstGeom>
          <a:noFill/>
        </p:spPr>
        <p:txBody>
          <a:bodyPr wrap="square" lIns="36576" rIns="36576" tIns="18288" anchor="t">
            <a:spAutoFit/>
          </a:bodyPr>
          <a:lstStyle/>
          <a:p>
            <a:pPr algn="ctr"/>
            <a:r>
              <a:rPr sz="1800" b="1">
                <a:solidFill>
                  <a:srgbClr val="162A3A"/>
                </a:solidFill>
                <a:latin typeface="Aptos"/>
              </a:rPr>
              <a:t>REVIEW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5212080"/>
            <a:ext cx="6858000" cy="274320"/>
          </a:xfrm>
          <a:prstGeom prst="rect">
            <a:avLst/>
          </a:prstGeom>
          <a:noFill/>
        </p:spPr>
        <p:txBody>
          <a:bodyPr wrap="square" lIns="36576" rIns="36576" tIns="18288" anchor="t">
            <a:spAutoFit/>
          </a:bodyPr>
          <a:lstStyle/>
          <a:p>
            <a:pPr algn="l"/>
            <a:r>
              <a:rPr sz="1300" b="1">
                <a:solidFill>
                  <a:srgbClr val="E0A643"/>
                </a:solidFill>
                <a:latin typeface="Aptos"/>
              </a:rPr>
              <a:t>UC3  Compliance Checker     ·     UC4  Audit Checklist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5650992"/>
            <a:ext cx="7772400" cy="274320"/>
          </a:xfrm>
          <a:prstGeom prst="rect">
            <a:avLst/>
          </a:prstGeom>
          <a:noFill/>
        </p:spPr>
        <p:txBody>
          <a:bodyPr wrap="square" lIns="36576" rIns="36576" tIns="18288" anchor="t">
            <a:spAutoFit/>
          </a:bodyPr>
          <a:lstStyle/>
          <a:p>
            <a:pPr algn="l"/>
            <a:r>
              <a:rPr sz="1200" b="0">
                <a:solidFill>
                  <a:srgbClr val="BED2CF"/>
                </a:solidFill>
                <a:latin typeface="Aptos"/>
              </a:rPr>
              <a:t>Agribank internal policies / legal evidence / RBAC / audit trail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6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A7775"/>
          </a:solidFill>
          <a:ln>
            <a:solidFill>
              <a:srgbClr val="1A77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84048"/>
            <a:ext cx="5669280" cy="228600"/>
          </a:xfrm>
          <a:prstGeom prst="rect">
            <a:avLst/>
          </a:prstGeom>
          <a:noFill/>
        </p:spPr>
        <p:txBody>
          <a:bodyPr wrap="square" lIns="36576" rIns="36576" tIns="18288" anchor="t">
            <a:spAutoFit/>
          </a:bodyPr>
          <a:lstStyle/>
          <a:p>
            <a:pPr algn="l"/>
            <a:r>
              <a:rPr sz="1000" b="1">
                <a:solidFill>
                  <a:srgbClr val="1A7775"/>
                </a:solidFill>
                <a:latin typeface="Aptos"/>
              </a:rPr>
              <a:t>BUỔI 18 / AI COMPLIANCE &amp; AUDIT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13232"/>
            <a:ext cx="10515600" cy="566928"/>
          </a:xfrm>
          <a:prstGeom prst="rect">
            <a:avLst/>
          </a:prstGeom>
          <a:noFill/>
        </p:spPr>
        <p:txBody>
          <a:bodyPr wrap="square" lIns="36576" rIns="36576" tIns="18288" anchor="t">
            <a:spAutoFit/>
          </a:bodyPr>
          <a:lstStyle/>
          <a:p>
            <a:pPr algn="l"/>
            <a:r>
              <a:rPr sz="2700" b="1">
                <a:solidFill>
                  <a:srgbClr val="162A3A"/>
                </a:solidFill>
                <a:latin typeface="Georgia"/>
              </a:rPr>
              <a:t>Bài toán: tìm đúng quy định, đúng quyền, đúng bằng chứng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402336"/>
            <a:ext cx="457200" cy="274320"/>
          </a:xfrm>
          <a:prstGeom prst="rect">
            <a:avLst/>
          </a:prstGeom>
          <a:noFill/>
        </p:spPr>
        <p:txBody>
          <a:bodyPr wrap="square" lIns="36576" rIns="36576" tIns="18288" anchor="t">
            <a:spAutoFit/>
          </a:bodyPr>
          <a:lstStyle/>
          <a:p>
            <a:pPr algn="r"/>
            <a:r>
              <a:rPr sz="1200" b="1">
                <a:solidFill>
                  <a:srgbClr val="5B6968"/>
                </a:solidFill>
                <a:latin typeface="Aptos"/>
              </a:rPr>
              <a:t>02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6382512"/>
            <a:ext cx="11155680" cy="10972"/>
          </a:xfrm>
          <a:prstGeom prst="rect">
            <a:avLst/>
          </a:prstGeom>
          <a:solidFill>
            <a:srgbClr val="D7E0DA"/>
          </a:solidFill>
          <a:ln>
            <a:solidFill>
              <a:srgbClr val="D7E0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7315200" cy="182880"/>
          </a:xfrm>
          <a:prstGeom prst="rect">
            <a:avLst/>
          </a:prstGeom>
          <a:noFill/>
        </p:spPr>
        <p:txBody>
          <a:bodyPr wrap="square" lIns="36576" rIns="36576" tIns="18288" anchor="t">
            <a:spAutoFit/>
          </a:bodyPr>
          <a:lstStyle/>
          <a:p>
            <a:pPr algn="l"/>
            <a:r>
              <a:rPr sz="900" b="0">
                <a:solidFill>
                  <a:srgbClr val="5B6968"/>
                </a:solidFill>
                <a:latin typeface="Aptos"/>
              </a:rPr>
              <a:t>Kết quả AI là bản nháp hỗ trợ kiểm toán viên, không thay thế quyết định con người.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691640"/>
            <a:ext cx="3154680" cy="2011680"/>
          </a:xfrm>
          <a:prstGeom prst="roundRect">
            <a:avLst>
              <a:gd name="adj" fmla="val 12000"/>
            </a:avLst>
          </a:prstGeom>
          <a:solidFill>
            <a:srgbClr val="FAE1DC"/>
          </a:solidFill>
          <a:ln>
            <a:solidFill>
              <a:srgbClr val="FAE1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41247" y="1965960"/>
            <a:ext cx="2651760" cy="274320"/>
          </a:xfrm>
          <a:prstGeom prst="rect">
            <a:avLst/>
          </a:prstGeom>
          <a:noFill/>
        </p:spPr>
        <p:txBody>
          <a:bodyPr wrap="square" lIns="36576" rIns="36576" tIns="18288" anchor="t">
            <a:spAutoFit/>
          </a:bodyPr>
          <a:lstStyle/>
          <a:p>
            <a:pPr algn="l"/>
            <a:r>
              <a:rPr sz="1300" b="1">
                <a:solidFill>
                  <a:srgbClr val="162A3A"/>
                </a:solidFill>
                <a:latin typeface="Aptos"/>
              </a:rPr>
              <a:t>01 · PHÂN TÁN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7" y="2487168"/>
            <a:ext cx="2697480" cy="731520"/>
          </a:xfrm>
          <a:prstGeom prst="rect">
            <a:avLst/>
          </a:prstGeom>
          <a:noFill/>
        </p:spPr>
        <p:txBody>
          <a:bodyPr wrap="square" lIns="36576" rIns="36576" tIns="18288" anchor="t">
            <a:spAutoFit/>
          </a:bodyPr>
          <a:lstStyle/>
          <a:p>
            <a:pPr algn="l"/>
            <a:r>
              <a:rPr sz="2200" b="1">
                <a:solidFill>
                  <a:srgbClr val="1E2A2E"/>
                </a:solidFill>
                <a:latin typeface="Georgia"/>
              </a:rPr>
              <a:t>Nội bộ + pháp luật
ở nhiều nguồn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41247" y="3310128"/>
            <a:ext cx="1828800" cy="36576"/>
          </a:xfrm>
          <a:prstGeom prst="rect">
            <a:avLst/>
          </a:prstGeom>
          <a:solidFill>
            <a:srgbClr val="1A7775"/>
          </a:solidFill>
          <a:ln>
            <a:solidFill>
              <a:srgbClr val="1A77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160520" y="1691640"/>
            <a:ext cx="3154680" cy="2011680"/>
          </a:xfrm>
          <a:prstGeom prst="roundRect">
            <a:avLst>
              <a:gd name="adj" fmla="val 12000"/>
            </a:avLst>
          </a:prstGeom>
          <a:solidFill>
            <a:srgbClr val="FAEFCF"/>
          </a:solidFill>
          <a:ln>
            <a:solidFill>
              <a:srgbClr val="FAEF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361688" y="1965960"/>
            <a:ext cx="2651760" cy="274320"/>
          </a:xfrm>
          <a:prstGeom prst="rect">
            <a:avLst/>
          </a:prstGeom>
          <a:noFill/>
        </p:spPr>
        <p:txBody>
          <a:bodyPr wrap="square" lIns="36576" rIns="36576" tIns="18288" anchor="t">
            <a:spAutoFit/>
          </a:bodyPr>
          <a:lstStyle/>
          <a:p>
            <a:pPr algn="l"/>
            <a:r>
              <a:rPr sz="1300" b="1">
                <a:solidFill>
                  <a:srgbClr val="162A3A"/>
                </a:solidFill>
                <a:latin typeface="Aptos"/>
              </a:rPr>
              <a:t>02 · RỦI RO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61688" y="2487168"/>
            <a:ext cx="2697480" cy="731520"/>
          </a:xfrm>
          <a:prstGeom prst="rect">
            <a:avLst/>
          </a:prstGeom>
          <a:noFill/>
        </p:spPr>
        <p:txBody>
          <a:bodyPr wrap="square" lIns="36576" rIns="36576" tIns="18288" anchor="t">
            <a:spAutoFit/>
          </a:bodyPr>
          <a:lstStyle/>
          <a:p>
            <a:pPr algn="l"/>
            <a:r>
              <a:rPr sz="2200" b="1">
                <a:solidFill>
                  <a:srgbClr val="1E2A2E"/>
                </a:solidFill>
                <a:latin typeface="Georgia"/>
              </a:rPr>
              <a:t>Mâu thuẫn hạn mức,
quy trình, thẩm quyền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361688" y="3310128"/>
            <a:ext cx="1828800" cy="36576"/>
          </a:xfrm>
          <a:prstGeom prst="rect">
            <a:avLst/>
          </a:prstGeom>
          <a:solidFill>
            <a:srgbClr val="1A7775"/>
          </a:solidFill>
          <a:ln>
            <a:solidFill>
              <a:srgbClr val="1A77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7680960" y="1691640"/>
            <a:ext cx="3154680" cy="2011680"/>
          </a:xfrm>
          <a:prstGeom prst="roundRect">
            <a:avLst>
              <a:gd name="adj" fmla="val 12000"/>
            </a:avLst>
          </a:prstGeom>
          <a:solidFill>
            <a:srgbClr val="DAEFE7"/>
          </a:solidFill>
          <a:ln>
            <a:solidFill>
              <a:srgbClr val="DAEF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882128" y="1965960"/>
            <a:ext cx="2651760" cy="274320"/>
          </a:xfrm>
          <a:prstGeom prst="rect">
            <a:avLst/>
          </a:prstGeom>
          <a:noFill/>
        </p:spPr>
        <p:txBody>
          <a:bodyPr wrap="square" lIns="36576" rIns="36576" tIns="18288" anchor="t">
            <a:spAutoFit/>
          </a:bodyPr>
          <a:lstStyle/>
          <a:p>
            <a:pPr algn="l"/>
            <a:r>
              <a:rPr sz="1300" b="1">
                <a:solidFill>
                  <a:srgbClr val="162A3A"/>
                </a:solidFill>
                <a:latin typeface="Aptos"/>
              </a:rPr>
              <a:t>03 · KIỂM SOÁT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882128" y="2487168"/>
            <a:ext cx="2697480" cy="731520"/>
          </a:xfrm>
          <a:prstGeom prst="rect">
            <a:avLst/>
          </a:prstGeom>
          <a:noFill/>
        </p:spPr>
        <p:txBody>
          <a:bodyPr wrap="square" lIns="36576" rIns="36576" tIns="18288" anchor="t">
            <a:spAutoFit/>
          </a:bodyPr>
          <a:lstStyle/>
          <a:p>
            <a:pPr algn="l"/>
            <a:r>
              <a:rPr sz="2200" b="1">
                <a:solidFill>
                  <a:srgbClr val="1E2A2E"/>
                </a:solidFill>
                <a:latin typeface="Georgia"/>
              </a:rPr>
              <a:t>Citation thật + RBAC
+ human review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882128" y="3310128"/>
            <a:ext cx="1828800" cy="36576"/>
          </a:xfrm>
          <a:prstGeom prst="rect">
            <a:avLst/>
          </a:prstGeom>
          <a:solidFill>
            <a:srgbClr val="1A7775"/>
          </a:solidFill>
          <a:ln>
            <a:solidFill>
              <a:srgbClr val="1A77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ight Arrow 19"/>
          <p:cNvSpPr/>
          <p:nvPr/>
        </p:nvSpPr>
        <p:spPr>
          <a:xfrm>
            <a:off x="3657600" y="2560320"/>
            <a:ext cx="384048" cy="292608"/>
          </a:xfrm>
          <a:prstGeom prst="rightArrow">
            <a:avLst/>
          </a:prstGeom>
          <a:solidFill>
            <a:srgbClr val="1A7775"/>
          </a:solidFill>
          <a:ln>
            <a:solidFill>
              <a:srgbClr val="1A77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ight Arrow 20"/>
          <p:cNvSpPr/>
          <p:nvPr/>
        </p:nvSpPr>
        <p:spPr>
          <a:xfrm>
            <a:off x="7178040" y="2560320"/>
            <a:ext cx="384048" cy="292608"/>
          </a:xfrm>
          <a:prstGeom prst="rightArrow">
            <a:avLst/>
          </a:prstGeom>
          <a:solidFill>
            <a:srgbClr val="1A7775"/>
          </a:solidFill>
          <a:ln>
            <a:solidFill>
              <a:srgbClr val="1A77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77240" y="4617720"/>
            <a:ext cx="10424160" cy="566928"/>
          </a:xfrm>
          <a:prstGeom prst="rect">
            <a:avLst/>
          </a:prstGeom>
          <a:noFill/>
        </p:spPr>
        <p:txBody>
          <a:bodyPr wrap="square" lIns="36576" rIns="36576" tIns="18288" anchor="t">
            <a:spAutoFit/>
          </a:bodyPr>
          <a:lstStyle/>
          <a:p>
            <a:pPr algn="ctr"/>
            <a:r>
              <a:rPr sz="2100" b="1">
                <a:solidFill>
                  <a:srgbClr val="162A3A"/>
                </a:solidFill>
                <a:latin typeface="Georgia"/>
              </a:rPr>
              <a:t>Mục tiêu: biến truy xuất quy định thành một quy trình có thể kiểm chứng, truy vết và bàn giao cho kiểm toán viên.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6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A7775"/>
          </a:solidFill>
          <a:ln>
            <a:solidFill>
              <a:srgbClr val="1A77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84048"/>
            <a:ext cx="5669280" cy="228600"/>
          </a:xfrm>
          <a:prstGeom prst="rect">
            <a:avLst/>
          </a:prstGeom>
          <a:noFill/>
        </p:spPr>
        <p:txBody>
          <a:bodyPr wrap="square" lIns="36576" rIns="36576" tIns="18288" anchor="t">
            <a:spAutoFit/>
          </a:bodyPr>
          <a:lstStyle/>
          <a:p>
            <a:pPr algn="l"/>
            <a:r>
              <a:rPr sz="1000" b="1">
                <a:solidFill>
                  <a:srgbClr val="1A7775"/>
                </a:solidFill>
                <a:latin typeface="Aptos"/>
              </a:rPr>
              <a:t>BUỔI 18 / AI COMPLIANCE &amp; AUDIT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13232"/>
            <a:ext cx="10515600" cy="566928"/>
          </a:xfrm>
          <a:prstGeom prst="rect">
            <a:avLst/>
          </a:prstGeom>
          <a:noFill/>
        </p:spPr>
        <p:txBody>
          <a:bodyPr wrap="square" lIns="36576" rIns="36576" tIns="18288" anchor="t">
            <a:spAutoFit/>
          </a:bodyPr>
          <a:lstStyle/>
          <a:p>
            <a:pPr algn="l"/>
            <a:r>
              <a:rPr sz="2700" b="1">
                <a:solidFill>
                  <a:srgbClr val="162A3A"/>
                </a:solidFill>
                <a:latin typeface="Georgia"/>
              </a:rPr>
              <a:t>Dữ liệu nền: đủ rộng để đối chiếu, đủ chặt để kiểm soát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402336"/>
            <a:ext cx="457200" cy="274320"/>
          </a:xfrm>
          <a:prstGeom prst="rect">
            <a:avLst/>
          </a:prstGeom>
          <a:noFill/>
        </p:spPr>
        <p:txBody>
          <a:bodyPr wrap="square" lIns="36576" rIns="36576" tIns="18288" anchor="t">
            <a:spAutoFit/>
          </a:bodyPr>
          <a:lstStyle/>
          <a:p>
            <a:pPr algn="r"/>
            <a:r>
              <a:rPr sz="1200" b="1">
                <a:solidFill>
                  <a:srgbClr val="5B6968"/>
                </a:solidFill>
                <a:latin typeface="Aptos"/>
              </a:rPr>
              <a:t>03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6382512"/>
            <a:ext cx="11155680" cy="10972"/>
          </a:xfrm>
          <a:prstGeom prst="rect">
            <a:avLst/>
          </a:prstGeom>
          <a:solidFill>
            <a:srgbClr val="D7E0DA"/>
          </a:solidFill>
          <a:ln>
            <a:solidFill>
              <a:srgbClr val="D7E0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7315200" cy="182880"/>
          </a:xfrm>
          <a:prstGeom prst="rect">
            <a:avLst/>
          </a:prstGeom>
          <a:noFill/>
        </p:spPr>
        <p:txBody>
          <a:bodyPr wrap="square" lIns="36576" rIns="36576" tIns="18288" anchor="t">
            <a:spAutoFit/>
          </a:bodyPr>
          <a:lstStyle/>
          <a:p>
            <a:pPr algn="l"/>
            <a:r>
              <a:rPr sz="900" b="0">
                <a:solidFill>
                  <a:srgbClr val="5B6968"/>
                </a:solidFill>
                <a:latin typeface="Aptos"/>
              </a:rPr>
              <a:t>Kết quả AI là bản nháp hỗ trợ kiểm toán viên, không thay thế quyết định con người.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600200"/>
            <a:ext cx="2057400" cy="1481328"/>
          </a:xfrm>
          <a:prstGeom prst="roundRect">
            <a:avLst>
              <a:gd name="adj" fmla="val 12000"/>
            </a:avLst>
          </a:prstGeom>
          <a:solidFill>
            <a:srgbClr val="DAEFE7"/>
          </a:solidFill>
          <a:ln>
            <a:solidFill>
              <a:srgbClr val="DAEF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1847088"/>
            <a:ext cx="2057400" cy="548640"/>
          </a:xfrm>
          <a:prstGeom prst="rect">
            <a:avLst/>
          </a:prstGeom>
          <a:noFill/>
        </p:spPr>
        <p:txBody>
          <a:bodyPr wrap="square" lIns="36576" rIns="36576" tIns="18288" anchor="t">
            <a:spAutoFit/>
          </a:bodyPr>
          <a:lstStyle/>
          <a:p>
            <a:pPr algn="ctr"/>
            <a:r>
              <a:rPr sz="3100" b="1">
                <a:solidFill>
                  <a:srgbClr val="162A3A"/>
                </a:solidFill>
                <a:latin typeface="Georgia"/>
              </a:rPr>
              <a:t>24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2606040"/>
            <a:ext cx="1783080" cy="256032"/>
          </a:xfrm>
          <a:prstGeom prst="rect">
            <a:avLst/>
          </a:prstGeom>
          <a:noFill/>
        </p:spPr>
        <p:txBody>
          <a:bodyPr wrap="square" lIns="36576" rIns="36576" tIns="18288" anchor="t">
            <a:spAutoFit/>
          </a:bodyPr>
          <a:lstStyle/>
          <a:p>
            <a:pPr algn="ctr"/>
            <a:r>
              <a:rPr sz="1200" b="1">
                <a:solidFill>
                  <a:srgbClr val="5B6968"/>
                </a:solidFill>
                <a:latin typeface="Aptos"/>
              </a:rPr>
              <a:t>chunks nội bộ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429000" y="1600200"/>
            <a:ext cx="2057400" cy="1481328"/>
          </a:xfrm>
          <a:prstGeom prst="roundRect">
            <a:avLst>
              <a:gd name="adj" fmla="val 12000"/>
            </a:avLst>
          </a:prstGeom>
          <a:solidFill>
            <a:srgbClr val="FAEFCF"/>
          </a:solidFill>
          <a:ln>
            <a:solidFill>
              <a:srgbClr val="FAEF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429000" y="1847088"/>
            <a:ext cx="2057400" cy="548640"/>
          </a:xfrm>
          <a:prstGeom prst="rect">
            <a:avLst/>
          </a:prstGeom>
          <a:noFill/>
        </p:spPr>
        <p:txBody>
          <a:bodyPr wrap="square" lIns="36576" rIns="36576" tIns="18288" anchor="t">
            <a:spAutoFit/>
          </a:bodyPr>
          <a:lstStyle/>
          <a:p>
            <a:pPr algn="ctr"/>
            <a:r>
              <a:rPr sz="3100" b="1">
                <a:solidFill>
                  <a:srgbClr val="162A3A"/>
                </a:solidFill>
                <a:latin typeface="Georgia"/>
              </a:rPr>
              <a:t>811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66160" y="2606040"/>
            <a:ext cx="1783080" cy="256032"/>
          </a:xfrm>
          <a:prstGeom prst="rect">
            <a:avLst/>
          </a:prstGeom>
          <a:noFill/>
        </p:spPr>
        <p:txBody>
          <a:bodyPr wrap="square" lIns="36576" rIns="36576" tIns="18288" anchor="t">
            <a:spAutoFit/>
          </a:bodyPr>
          <a:lstStyle/>
          <a:p>
            <a:pPr algn="ctr"/>
            <a:r>
              <a:rPr sz="1200" b="1">
                <a:solidFill>
                  <a:srgbClr val="5B6968"/>
                </a:solidFill>
                <a:latin typeface="Aptos"/>
              </a:rPr>
              <a:t>chunks kết hợp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26480" y="1600200"/>
            <a:ext cx="2057400" cy="1481328"/>
          </a:xfrm>
          <a:prstGeom prst="roundRect">
            <a:avLst>
              <a:gd name="adj" fmla="val 12000"/>
            </a:avLst>
          </a:prstGeom>
          <a:solidFill>
            <a:srgbClr val="FAE1DC"/>
          </a:solidFill>
          <a:ln>
            <a:solidFill>
              <a:srgbClr val="FAE1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126480" y="1847088"/>
            <a:ext cx="2057400" cy="548640"/>
          </a:xfrm>
          <a:prstGeom prst="rect">
            <a:avLst/>
          </a:prstGeom>
          <a:noFill/>
        </p:spPr>
        <p:txBody>
          <a:bodyPr wrap="square" lIns="36576" rIns="36576" tIns="18288" anchor="t">
            <a:spAutoFit/>
          </a:bodyPr>
          <a:lstStyle/>
          <a:p>
            <a:pPr algn="ctr"/>
            <a:r>
              <a:rPr sz="3100" b="1">
                <a:solidFill>
                  <a:srgbClr val="162A3A"/>
                </a:solidFill>
                <a:latin typeface="Georgia"/>
              </a:rPr>
              <a:t>10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63640" y="2606040"/>
            <a:ext cx="1783080" cy="256032"/>
          </a:xfrm>
          <a:prstGeom prst="rect">
            <a:avLst/>
          </a:prstGeom>
          <a:noFill/>
        </p:spPr>
        <p:txBody>
          <a:bodyPr wrap="square" lIns="36576" rIns="36576" tIns="18288" anchor="t">
            <a:spAutoFit/>
          </a:bodyPr>
          <a:lstStyle/>
          <a:p>
            <a:pPr algn="ctr"/>
            <a:r>
              <a:rPr sz="1200" b="1">
                <a:solidFill>
                  <a:srgbClr val="5B6968"/>
                </a:solidFill>
                <a:latin typeface="Aptos"/>
              </a:rPr>
              <a:t>domain nội bộ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823960" y="1600200"/>
            <a:ext cx="2057400" cy="1481328"/>
          </a:xfrm>
          <a:prstGeom prst="roundRect">
            <a:avLst>
              <a:gd name="adj" fmla="val 12000"/>
            </a:avLst>
          </a:prstGeom>
          <a:solidFill>
            <a:srgbClr val="DAEFE7"/>
          </a:solidFill>
          <a:ln>
            <a:solidFill>
              <a:srgbClr val="DAEF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823960" y="1847088"/>
            <a:ext cx="2057400" cy="548640"/>
          </a:xfrm>
          <a:prstGeom prst="rect">
            <a:avLst/>
          </a:prstGeom>
          <a:noFill/>
        </p:spPr>
        <p:txBody>
          <a:bodyPr wrap="square" lIns="36576" rIns="36576" tIns="18288" anchor="t">
            <a:spAutoFit/>
          </a:bodyPr>
          <a:lstStyle/>
          <a:p>
            <a:pPr algn="ctr"/>
            <a:r>
              <a:rPr sz="3100" b="1">
                <a:solidFill>
                  <a:srgbClr val="162A3A"/>
                </a:solidFill>
                <a:latin typeface="Georgia"/>
              </a:rPr>
              <a:t>14/14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961120" y="2606040"/>
            <a:ext cx="1783080" cy="256032"/>
          </a:xfrm>
          <a:prstGeom prst="rect">
            <a:avLst/>
          </a:prstGeom>
          <a:noFill/>
        </p:spPr>
        <p:txBody>
          <a:bodyPr wrap="square" lIns="36576" rIns="36576" tIns="18288" anchor="t">
            <a:spAutoFit/>
          </a:bodyPr>
          <a:lstStyle/>
          <a:p>
            <a:pPr algn="ctr"/>
            <a:r>
              <a:rPr sz="1200" b="1">
                <a:solidFill>
                  <a:srgbClr val="5B6968"/>
                </a:solidFill>
                <a:latin typeface="Aptos"/>
              </a:rPr>
              <a:t>metadata đầy đủ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" y="3767328"/>
            <a:ext cx="2926080" cy="274320"/>
          </a:xfrm>
          <a:prstGeom prst="rect">
            <a:avLst/>
          </a:prstGeom>
          <a:noFill/>
        </p:spPr>
        <p:txBody>
          <a:bodyPr wrap="square" lIns="36576" rIns="36576" tIns="18288" anchor="t">
            <a:spAutoFit/>
          </a:bodyPr>
          <a:lstStyle/>
          <a:p>
            <a:pPr algn="l"/>
            <a:r>
              <a:rPr sz="1500" b="1">
                <a:solidFill>
                  <a:srgbClr val="1A7775"/>
                </a:solidFill>
                <a:latin typeface="Aptos"/>
              </a:rPr>
              <a:t>Các trường kiểm soát quan trọng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8680" y="4251960"/>
            <a:ext cx="1920240" cy="228600"/>
          </a:xfrm>
          <a:prstGeom prst="rect">
            <a:avLst/>
          </a:prstGeom>
          <a:noFill/>
        </p:spPr>
        <p:txBody>
          <a:bodyPr wrap="square" lIns="36576" rIns="36576" tIns="18288" anchor="t">
            <a:spAutoFit/>
          </a:bodyPr>
          <a:lstStyle/>
          <a:p>
            <a:pPr algn="l"/>
            <a:r>
              <a:rPr sz="1500" b="1">
                <a:solidFill>
                  <a:srgbClr val="1E2A2E"/>
                </a:solidFill>
                <a:latin typeface="Aptos"/>
              </a:rPr>
              <a:t>article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2743200" y="4297680"/>
            <a:ext cx="5029200" cy="146304"/>
          </a:xfrm>
          <a:prstGeom prst="roundRect">
            <a:avLst>
              <a:gd name="adj" fmla="val 12000"/>
            </a:avLst>
          </a:prstGeom>
          <a:solidFill>
            <a:srgbClr val="D7E0DA"/>
          </a:solidFill>
          <a:ln>
            <a:solidFill>
              <a:srgbClr val="D7E0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2743200" y="4297680"/>
            <a:ext cx="5029200" cy="146304"/>
          </a:xfrm>
          <a:prstGeom prst="roundRect">
            <a:avLst>
              <a:gd name="adj" fmla="val 12000"/>
            </a:avLst>
          </a:prstGeom>
          <a:solidFill>
            <a:srgbClr val="1A7775"/>
          </a:solidFill>
          <a:ln>
            <a:solidFill>
              <a:srgbClr val="1A77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046720" y="4224528"/>
            <a:ext cx="1097280" cy="228600"/>
          </a:xfrm>
          <a:prstGeom prst="rect">
            <a:avLst/>
          </a:prstGeom>
          <a:noFill/>
        </p:spPr>
        <p:txBody>
          <a:bodyPr wrap="square" lIns="36576" rIns="36576" tIns="18288" anchor="t">
            <a:spAutoFit/>
          </a:bodyPr>
          <a:lstStyle/>
          <a:p>
            <a:pPr algn="l"/>
            <a:r>
              <a:rPr sz="1300" b="1">
                <a:solidFill>
                  <a:srgbClr val="1A7775"/>
                </a:solidFill>
                <a:latin typeface="Aptos"/>
              </a:rPr>
              <a:t>811/811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68680" y="4727448"/>
            <a:ext cx="1920240" cy="228600"/>
          </a:xfrm>
          <a:prstGeom prst="rect">
            <a:avLst/>
          </a:prstGeom>
          <a:noFill/>
        </p:spPr>
        <p:txBody>
          <a:bodyPr wrap="square" lIns="36576" rIns="36576" tIns="18288" anchor="t">
            <a:spAutoFit/>
          </a:bodyPr>
          <a:lstStyle/>
          <a:p>
            <a:pPr algn="l"/>
            <a:r>
              <a:rPr sz="1500" b="1">
                <a:solidFill>
                  <a:srgbClr val="1E2A2E"/>
                </a:solidFill>
                <a:latin typeface="Aptos"/>
              </a:rPr>
              <a:t>citation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2743200" y="4773168"/>
            <a:ext cx="5029200" cy="146304"/>
          </a:xfrm>
          <a:prstGeom prst="roundRect">
            <a:avLst>
              <a:gd name="adj" fmla="val 12000"/>
            </a:avLst>
          </a:prstGeom>
          <a:solidFill>
            <a:srgbClr val="D7E0DA"/>
          </a:solidFill>
          <a:ln>
            <a:solidFill>
              <a:srgbClr val="D7E0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2743200" y="4773168"/>
            <a:ext cx="5029200" cy="146304"/>
          </a:xfrm>
          <a:prstGeom prst="roundRect">
            <a:avLst>
              <a:gd name="adj" fmla="val 12000"/>
            </a:avLst>
          </a:prstGeom>
          <a:solidFill>
            <a:srgbClr val="1A7775"/>
          </a:solidFill>
          <a:ln>
            <a:solidFill>
              <a:srgbClr val="1A77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046720" y="4700016"/>
            <a:ext cx="1097280" cy="228600"/>
          </a:xfrm>
          <a:prstGeom prst="rect">
            <a:avLst/>
          </a:prstGeom>
          <a:noFill/>
        </p:spPr>
        <p:txBody>
          <a:bodyPr wrap="square" lIns="36576" rIns="36576" tIns="18288" anchor="t">
            <a:spAutoFit/>
          </a:bodyPr>
          <a:lstStyle/>
          <a:p>
            <a:pPr algn="l"/>
            <a:r>
              <a:rPr sz="1300" b="1">
                <a:solidFill>
                  <a:srgbClr val="1A7775"/>
                </a:solidFill>
                <a:latin typeface="Aptos"/>
              </a:rPr>
              <a:t>811/811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68680" y="5202936"/>
            <a:ext cx="1920240" cy="228600"/>
          </a:xfrm>
          <a:prstGeom prst="rect">
            <a:avLst/>
          </a:prstGeom>
          <a:noFill/>
        </p:spPr>
        <p:txBody>
          <a:bodyPr wrap="square" lIns="36576" rIns="36576" tIns="18288" anchor="t">
            <a:spAutoFit/>
          </a:bodyPr>
          <a:lstStyle/>
          <a:p>
            <a:pPr algn="l"/>
            <a:r>
              <a:rPr sz="1500" b="1">
                <a:solidFill>
                  <a:srgbClr val="1E2A2E"/>
                </a:solidFill>
                <a:latin typeface="Aptos"/>
              </a:rPr>
              <a:t>allowed_roles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2743200" y="5248656"/>
            <a:ext cx="5029200" cy="146304"/>
          </a:xfrm>
          <a:prstGeom prst="roundRect">
            <a:avLst>
              <a:gd name="adj" fmla="val 12000"/>
            </a:avLst>
          </a:prstGeom>
          <a:solidFill>
            <a:srgbClr val="D7E0DA"/>
          </a:solidFill>
          <a:ln>
            <a:solidFill>
              <a:srgbClr val="D7E0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2743200" y="5248656"/>
            <a:ext cx="5029200" cy="146304"/>
          </a:xfrm>
          <a:prstGeom prst="roundRect">
            <a:avLst>
              <a:gd name="adj" fmla="val 12000"/>
            </a:avLst>
          </a:prstGeom>
          <a:solidFill>
            <a:srgbClr val="1A7775"/>
          </a:solidFill>
          <a:ln>
            <a:solidFill>
              <a:srgbClr val="1A77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046720" y="5175504"/>
            <a:ext cx="1097280" cy="228600"/>
          </a:xfrm>
          <a:prstGeom prst="rect">
            <a:avLst/>
          </a:prstGeom>
          <a:noFill/>
        </p:spPr>
        <p:txBody>
          <a:bodyPr wrap="square" lIns="36576" rIns="36576" tIns="18288" anchor="t">
            <a:spAutoFit/>
          </a:bodyPr>
          <a:lstStyle/>
          <a:p>
            <a:pPr algn="l"/>
            <a:r>
              <a:rPr sz="1300" b="1">
                <a:solidFill>
                  <a:srgbClr val="1A7775"/>
                </a:solidFill>
                <a:latin typeface="Aptos"/>
              </a:rPr>
              <a:t>811/811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955279" y="4251960"/>
            <a:ext cx="3017520" cy="1005840"/>
          </a:xfrm>
          <a:prstGeom prst="rect">
            <a:avLst/>
          </a:prstGeom>
          <a:noFill/>
        </p:spPr>
        <p:txBody>
          <a:bodyPr wrap="square" lIns="36576" rIns="36576" tIns="18288" anchor="t">
            <a:spAutoFit/>
          </a:bodyPr>
          <a:lstStyle/>
          <a:p>
            <a:pPr algn="l"/>
            <a:r>
              <a:rPr sz="2000" b="1">
                <a:solidFill>
                  <a:srgbClr val="162A3A"/>
                </a:solidFill>
                <a:latin typeface="Georgia"/>
              </a:rPr>
              <a:t>Nguồn được đọc read-only; citation và quyền truy cập nằm trong metadata thật.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6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A7775"/>
          </a:solidFill>
          <a:ln>
            <a:solidFill>
              <a:srgbClr val="1A77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84048"/>
            <a:ext cx="5669280" cy="228600"/>
          </a:xfrm>
          <a:prstGeom prst="rect">
            <a:avLst/>
          </a:prstGeom>
          <a:noFill/>
        </p:spPr>
        <p:txBody>
          <a:bodyPr wrap="square" lIns="36576" rIns="36576" tIns="18288" anchor="t">
            <a:spAutoFit/>
          </a:bodyPr>
          <a:lstStyle/>
          <a:p>
            <a:pPr algn="l"/>
            <a:r>
              <a:rPr sz="1000" b="1">
                <a:solidFill>
                  <a:srgbClr val="1A7775"/>
                </a:solidFill>
                <a:latin typeface="Aptos"/>
              </a:rPr>
              <a:t>BUỔI 18 / AI COMPLIANCE &amp; AUDIT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13232"/>
            <a:ext cx="10515600" cy="566928"/>
          </a:xfrm>
          <a:prstGeom prst="rect">
            <a:avLst/>
          </a:prstGeom>
          <a:noFill/>
        </p:spPr>
        <p:txBody>
          <a:bodyPr wrap="square" lIns="36576" rIns="36576" tIns="18288" anchor="t">
            <a:spAutoFit/>
          </a:bodyPr>
          <a:lstStyle/>
          <a:p>
            <a:pPr algn="l"/>
            <a:r>
              <a:rPr sz="2700" b="1">
                <a:solidFill>
                  <a:srgbClr val="162A3A"/>
                </a:solidFill>
                <a:latin typeface="Georgia"/>
              </a:rPr>
              <a:t>Kiến trúc kiểm soát: lọc quyền trước khi tìm kiếm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402336"/>
            <a:ext cx="457200" cy="274320"/>
          </a:xfrm>
          <a:prstGeom prst="rect">
            <a:avLst/>
          </a:prstGeom>
          <a:noFill/>
        </p:spPr>
        <p:txBody>
          <a:bodyPr wrap="square" lIns="36576" rIns="36576" tIns="18288" anchor="t">
            <a:spAutoFit/>
          </a:bodyPr>
          <a:lstStyle/>
          <a:p>
            <a:pPr algn="r"/>
            <a:r>
              <a:rPr sz="1200" b="1">
                <a:solidFill>
                  <a:srgbClr val="5B6968"/>
                </a:solidFill>
                <a:latin typeface="Aptos"/>
              </a:rPr>
              <a:t>04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6382512"/>
            <a:ext cx="11155680" cy="10972"/>
          </a:xfrm>
          <a:prstGeom prst="rect">
            <a:avLst/>
          </a:prstGeom>
          <a:solidFill>
            <a:srgbClr val="D7E0DA"/>
          </a:solidFill>
          <a:ln>
            <a:solidFill>
              <a:srgbClr val="D7E0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7315200" cy="182880"/>
          </a:xfrm>
          <a:prstGeom prst="rect">
            <a:avLst/>
          </a:prstGeom>
          <a:noFill/>
        </p:spPr>
        <p:txBody>
          <a:bodyPr wrap="square" lIns="36576" rIns="36576" tIns="18288" anchor="t">
            <a:spAutoFit/>
          </a:bodyPr>
          <a:lstStyle/>
          <a:p>
            <a:pPr algn="l"/>
            <a:r>
              <a:rPr sz="900" b="0">
                <a:solidFill>
                  <a:srgbClr val="5B6968"/>
                </a:solidFill>
                <a:latin typeface="Aptos"/>
              </a:rPr>
              <a:t>Kết quả AI là bản nháp hỗ trợ kiểm toán viên, không thay thế quyết định con người.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874519"/>
            <a:ext cx="2194560" cy="1325880"/>
          </a:xfrm>
          <a:prstGeom prst="roundRect">
            <a:avLst>
              <a:gd name="adj" fmla="val 12000"/>
            </a:avLst>
          </a:prstGeom>
          <a:solidFill>
            <a:srgbClr val="162A3A"/>
          </a:solidFill>
          <a:ln>
            <a:solidFill>
              <a:srgbClr val="162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95528" y="2148840"/>
            <a:ext cx="1975104" cy="246888"/>
          </a:xfrm>
          <a:prstGeom prst="rect">
            <a:avLst/>
          </a:prstGeom>
          <a:noFill/>
        </p:spPr>
        <p:txBody>
          <a:bodyPr wrap="square" lIns="36576" rIns="36576" tIns="18288" anchor="t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NGƯỜI DÙNG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95528" y="2606040"/>
            <a:ext cx="1975104" cy="256032"/>
          </a:xfrm>
          <a:prstGeom prst="rect">
            <a:avLst/>
          </a:prstGeom>
          <a:noFill/>
        </p:spPr>
        <p:txBody>
          <a:bodyPr wrap="square" lIns="36576" rIns="36576" tIns="18288" anchor="t">
            <a:spAutoFit/>
          </a:bodyPr>
          <a:lstStyle/>
          <a:p>
            <a:pPr algn="ctr"/>
            <a:r>
              <a:rPr sz="1300" b="0">
                <a:solidFill>
                  <a:srgbClr val="FFFFFF"/>
                </a:solidFill>
                <a:latin typeface="Aptos"/>
              </a:rPr>
              <a:t>role + request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2944368" y="2395728"/>
            <a:ext cx="384048" cy="292608"/>
          </a:xfrm>
          <a:prstGeom prst="rightArrow">
            <a:avLst/>
          </a:prstGeom>
          <a:solidFill>
            <a:srgbClr val="E0A643"/>
          </a:solidFill>
          <a:ln>
            <a:solidFill>
              <a:srgbClr val="E0A6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3474720" y="1874519"/>
            <a:ext cx="2194560" cy="1325880"/>
          </a:xfrm>
          <a:prstGeom prst="roundRect">
            <a:avLst>
              <a:gd name="adj" fmla="val 12000"/>
            </a:avLst>
          </a:prstGeom>
          <a:solidFill>
            <a:srgbClr val="1A7775"/>
          </a:solidFill>
          <a:ln>
            <a:solidFill>
              <a:srgbClr val="1A77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584448" y="2148840"/>
            <a:ext cx="1975104" cy="246888"/>
          </a:xfrm>
          <a:prstGeom prst="rect">
            <a:avLst/>
          </a:prstGeom>
          <a:noFill/>
        </p:spPr>
        <p:txBody>
          <a:bodyPr wrap="square" lIns="36576" rIns="36576" tIns="18288" anchor="t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RBAC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84448" y="2606040"/>
            <a:ext cx="1975104" cy="256032"/>
          </a:xfrm>
          <a:prstGeom prst="rect">
            <a:avLst/>
          </a:prstGeom>
          <a:noFill/>
        </p:spPr>
        <p:txBody>
          <a:bodyPr wrap="square" lIns="36576" rIns="36576" tIns="18288" anchor="t">
            <a:spAutoFit/>
          </a:bodyPr>
          <a:lstStyle/>
          <a:p>
            <a:pPr algn="ctr"/>
            <a:r>
              <a:rPr sz="1300" b="0">
                <a:solidFill>
                  <a:srgbClr val="FFFFFF"/>
                </a:solidFill>
                <a:latin typeface="Aptos"/>
              </a:rPr>
              <a:t>allowed_roles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5733288" y="2395728"/>
            <a:ext cx="384048" cy="292608"/>
          </a:xfrm>
          <a:prstGeom prst="rightArrow">
            <a:avLst/>
          </a:prstGeom>
          <a:solidFill>
            <a:srgbClr val="E0A643"/>
          </a:solidFill>
          <a:ln>
            <a:solidFill>
              <a:srgbClr val="E0A6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263640" y="1874519"/>
            <a:ext cx="2194560" cy="1325880"/>
          </a:xfrm>
          <a:prstGeom prst="roundRect">
            <a:avLst>
              <a:gd name="adj" fmla="val 12000"/>
            </a:avLst>
          </a:prstGeom>
          <a:solidFill>
            <a:srgbClr val="E0A643"/>
          </a:solidFill>
          <a:ln>
            <a:solidFill>
              <a:srgbClr val="E0A6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73368" y="2148840"/>
            <a:ext cx="1975104" cy="246888"/>
          </a:xfrm>
          <a:prstGeom prst="rect">
            <a:avLst/>
          </a:prstGeom>
          <a:noFill/>
        </p:spPr>
        <p:txBody>
          <a:bodyPr wrap="square" lIns="36576" rIns="36576" tIns="18288" anchor="t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BM25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73368" y="2606040"/>
            <a:ext cx="1975104" cy="256032"/>
          </a:xfrm>
          <a:prstGeom prst="rect">
            <a:avLst/>
          </a:prstGeom>
          <a:noFill/>
        </p:spPr>
        <p:txBody>
          <a:bodyPr wrap="square" lIns="36576" rIns="36576" tIns="18288" anchor="t">
            <a:spAutoFit/>
          </a:bodyPr>
          <a:lstStyle/>
          <a:p>
            <a:pPr algn="ctr"/>
            <a:r>
              <a:rPr sz="1300" b="0">
                <a:solidFill>
                  <a:srgbClr val="FFFFFF"/>
                </a:solidFill>
                <a:latin typeface="Aptos"/>
              </a:rPr>
              <a:t>evidence ranking</a:t>
            </a:r>
          </a:p>
        </p:txBody>
      </p:sp>
      <p:sp>
        <p:nvSpPr>
          <p:cNvPr id="19" name="Right Arrow 18"/>
          <p:cNvSpPr/>
          <p:nvPr/>
        </p:nvSpPr>
        <p:spPr>
          <a:xfrm>
            <a:off x="8522208" y="2395728"/>
            <a:ext cx="384048" cy="292608"/>
          </a:xfrm>
          <a:prstGeom prst="rightArrow">
            <a:avLst/>
          </a:prstGeom>
          <a:solidFill>
            <a:srgbClr val="E0A643"/>
          </a:solidFill>
          <a:ln>
            <a:solidFill>
              <a:srgbClr val="E0A6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9052559" y="1874519"/>
            <a:ext cx="2194560" cy="1325880"/>
          </a:xfrm>
          <a:prstGeom prst="roundRect">
            <a:avLst>
              <a:gd name="adj" fmla="val 12000"/>
            </a:avLst>
          </a:prstGeom>
          <a:solidFill>
            <a:srgbClr val="CC574B"/>
          </a:solidFill>
          <a:ln>
            <a:solidFill>
              <a:srgbClr val="CC57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62287" y="2148840"/>
            <a:ext cx="1975104" cy="246888"/>
          </a:xfrm>
          <a:prstGeom prst="rect">
            <a:avLst/>
          </a:prstGeom>
          <a:noFill/>
        </p:spPr>
        <p:txBody>
          <a:bodyPr wrap="square" lIns="36576" rIns="36576" tIns="18288" anchor="t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LLM / FALLBACK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62287" y="2606040"/>
            <a:ext cx="1975104" cy="256032"/>
          </a:xfrm>
          <a:prstGeom prst="rect">
            <a:avLst/>
          </a:prstGeom>
          <a:noFill/>
        </p:spPr>
        <p:txBody>
          <a:bodyPr wrap="square" lIns="36576" rIns="36576" tIns="18288" anchor="t">
            <a:spAutoFit/>
          </a:bodyPr>
          <a:lstStyle/>
          <a:p>
            <a:pPr algn="ctr"/>
            <a:r>
              <a:rPr sz="1300" b="0">
                <a:solidFill>
                  <a:srgbClr val="FFFFFF"/>
                </a:solidFill>
                <a:latin typeface="Aptos"/>
              </a:rPr>
              <a:t>JSON guardrail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960" y="3913632"/>
            <a:ext cx="1828800" cy="256032"/>
          </a:xfrm>
          <a:prstGeom prst="rect">
            <a:avLst/>
          </a:prstGeom>
          <a:noFill/>
        </p:spPr>
        <p:txBody>
          <a:bodyPr wrap="square" lIns="36576" rIns="36576" tIns="18288" anchor="t">
            <a:spAutoFit/>
          </a:bodyPr>
          <a:lstStyle/>
          <a:p>
            <a:pPr algn="l"/>
            <a:r>
              <a:rPr sz="1400" b="1">
                <a:solidFill>
                  <a:srgbClr val="1A7775"/>
                </a:solidFill>
                <a:latin typeface="Aptos"/>
              </a:rPr>
              <a:t>Evidence package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22960" y="4315968"/>
            <a:ext cx="10561320" cy="7772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7E0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1097280" y="4544568"/>
            <a:ext cx="1737360" cy="329184"/>
          </a:xfrm>
          <a:prstGeom prst="roundRect">
            <a:avLst>
              <a:gd name="adj" fmla="val 12000"/>
            </a:avLst>
          </a:prstGeom>
          <a:solidFill>
            <a:srgbClr val="DAEFE7"/>
          </a:solidFill>
          <a:ln>
            <a:solidFill>
              <a:srgbClr val="DAEF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97280" y="4590288"/>
            <a:ext cx="1737360" cy="201168"/>
          </a:xfrm>
          <a:prstGeom prst="rect">
            <a:avLst/>
          </a:prstGeom>
          <a:noFill/>
        </p:spPr>
        <p:txBody>
          <a:bodyPr wrap="square" lIns="36576" rIns="36576" tIns="18288" anchor="t">
            <a:spAutoFit/>
          </a:bodyPr>
          <a:lstStyle/>
          <a:p>
            <a:pPr algn="ctr"/>
            <a:r>
              <a:rPr sz="1000" b="1">
                <a:solidFill>
                  <a:srgbClr val="1A7775"/>
                </a:solidFill>
                <a:latin typeface="Aptos"/>
              </a:rPr>
              <a:t>CITATION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3566160" y="4544568"/>
            <a:ext cx="1737360" cy="329184"/>
          </a:xfrm>
          <a:prstGeom prst="roundRect">
            <a:avLst>
              <a:gd name="adj" fmla="val 12000"/>
            </a:avLst>
          </a:prstGeom>
          <a:solidFill>
            <a:srgbClr val="DAEFE7"/>
          </a:solidFill>
          <a:ln>
            <a:solidFill>
              <a:srgbClr val="DAEF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566160" y="4590288"/>
            <a:ext cx="1737360" cy="201168"/>
          </a:xfrm>
          <a:prstGeom prst="rect">
            <a:avLst/>
          </a:prstGeom>
          <a:noFill/>
        </p:spPr>
        <p:txBody>
          <a:bodyPr wrap="square" lIns="36576" rIns="36576" tIns="18288" anchor="t">
            <a:spAutoFit/>
          </a:bodyPr>
          <a:lstStyle/>
          <a:p>
            <a:pPr algn="ctr"/>
            <a:r>
              <a:rPr sz="1000" b="1">
                <a:solidFill>
                  <a:srgbClr val="1A7775"/>
                </a:solidFill>
                <a:latin typeface="Aptos"/>
              </a:rPr>
              <a:t>ARTICLE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035040" y="4544568"/>
            <a:ext cx="1737360" cy="329184"/>
          </a:xfrm>
          <a:prstGeom prst="roundRect">
            <a:avLst>
              <a:gd name="adj" fmla="val 12000"/>
            </a:avLst>
          </a:prstGeom>
          <a:solidFill>
            <a:srgbClr val="DAEFE7"/>
          </a:solidFill>
          <a:ln>
            <a:solidFill>
              <a:srgbClr val="DAEF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035040" y="4590288"/>
            <a:ext cx="1737360" cy="201168"/>
          </a:xfrm>
          <a:prstGeom prst="rect">
            <a:avLst/>
          </a:prstGeom>
          <a:noFill/>
        </p:spPr>
        <p:txBody>
          <a:bodyPr wrap="square" lIns="36576" rIns="36576" tIns="18288" anchor="t">
            <a:spAutoFit/>
          </a:bodyPr>
          <a:lstStyle/>
          <a:p>
            <a:pPr algn="ctr"/>
            <a:r>
              <a:rPr sz="1000" b="1">
                <a:solidFill>
                  <a:srgbClr val="1A7775"/>
                </a:solidFill>
                <a:latin typeface="Aptos"/>
              </a:rPr>
              <a:t>TEXT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503920" y="4544568"/>
            <a:ext cx="1737360" cy="329184"/>
          </a:xfrm>
          <a:prstGeom prst="roundRect">
            <a:avLst>
              <a:gd name="adj" fmla="val 12000"/>
            </a:avLst>
          </a:prstGeom>
          <a:solidFill>
            <a:srgbClr val="FAEFCF"/>
          </a:solidFill>
          <a:ln>
            <a:solidFill>
              <a:srgbClr val="FAEF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503920" y="4590288"/>
            <a:ext cx="1737360" cy="201168"/>
          </a:xfrm>
          <a:prstGeom prst="rect">
            <a:avLst/>
          </a:prstGeom>
          <a:noFill/>
        </p:spPr>
        <p:txBody>
          <a:bodyPr wrap="square" lIns="36576" rIns="36576" tIns="18288" anchor="t">
            <a:spAutoFit/>
          </a:bodyPr>
          <a:lstStyle/>
          <a:p>
            <a:pPr algn="ctr"/>
            <a:r>
              <a:rPr sz="1000" b="1">
                <a:solidFill>
                  <a:srgbClr val="162A3A"/>
                </a:solidFill>
                <a:latin typeface="Aptos"/>
              </a:rPr>
              <a:t>REVIEW_STATUS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14400" y="5513832"/>
            <a:ext cx="10241280" cy="274320"/>
          </a:xfrm>
          <a:prstGeom prst="rect">
            <a:avLst/>
          </a:prstGeom>
          <a:noFill/>
        </p:spPr>
        <p:txBody>
          <a:bodyPr wrap="square" lIns="36576" rIns="36576" tIns="18288" anchor="t">
            <a:spAutoFit/>
          </a:bodyPr>
          <a:lstStyle/>
          <a:p>
            <a:pPr algn="ctr"/>
            <a:r>
              <a:rPr sz="1600" b="1">
                <a:solidFill>
                  <a:srgbClr val="162A3A"/>
                </a:solidFill>
                <a:latin typeface="Aptos"/>
              </a:rPr>
              <a:t>Không có chunk được phép truy cập thì không được đưa vào retrieval hoặc context.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6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A7775"/>
          </a:solidFill>
          <a:ln>
            <a:solidFill>
              <a:srgbClr val="1A77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84048"/>
            <a:ext cx="5669280" cy="228600"/>
          </a:xfrm>
          <a:prstGeom prst="rect">
            <a:avLst/>
          </a:prstGeom>
          <a:noFill/>
        </p:spPr>
        <p:txBody>
          <a:bodyPr wrap="square" lIns="36576" rIns="36576" tIns="18288" anchor="t">
            <a:spAutoFit/>
          </a:bodyPr>
          <a:lstStyle/>
          <a:p>
            <a:pPr algn="l"/>
            <a:r>
              <a:rPr sz="1000" b="1">
                <a:solidFill>
                  <a:srgbClr val="1A7775"/>
                </a:solidFill>
                <a:latin typeface="Aptos"/>
              </a:rPr>
              <a:t>BUỔI 18 / AI COMPLIANCE &amp; AUDIT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13232"/>
            <a:ext cx="10515600" cy="566928"/>
          </a:xfrm>
          <a:prstGeom prst="rect">
            <a:avLst/>
          </a:prstGeom>
          <a:noFill/>
        </p:spPr>
        <p:txBody>
          <a:bodyPr wrap="square" lIns="36576" rIns="36576" tIns="18288" anchor="t">
            <a:spAutoFit/>
          </a:bodyPr>
          <a:lstStyle/>
          <a:p>
            <a:pPr algn="l"/>
            <a:r>
              <a:rPr sz="2700" b="1">
                <a:solidFill>
                  <a:srgbClr val="162A3A"/>
                </a:solidFill>
                <a:latin typeface="Georgia"/>
              </a:rPr>
              <a:t>UC3 · Compliance Checker: đối chiếu hai phía của quy định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402336"/>
            <a:ext cx="457200" cy="274320"/>
          </a:xfrm>
          <a:prstGeom prst="rect">
            <a:avLst/>
          </a:prstGeom>
          <a:noFill/>
        </p:spPr>
        <p:txBody>
          <a:bodyPr wrap="square" lIns="36576" rIns="36576" tIns="18288" anchor="t">
            <a:spAutoFit/>
          </a:bodyPr>
          <a:lstStyle/>
          <a:p>
            <a:pPr algn="r"/>
            <a:r>
              <a:rPr sz="1200" b="1">
                <a:solidFill>
                  <a:srgbClr val="5B6968"/>
                </a:solidFill>
                <a:latin typeface="Aptos"/>
              </a:rPr>
              <a:t>05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6382512"/>
            <a:ext cx="11155680" cy="10972"/>
          </a:xfrm>
          <a:prstGeom prst="rect">
            <a:avLst/>
          </a:prstGeom>
          <a:solidFill>
            <a:srgbClr val="D7E0DA"/>
          </a:solidFill>
          <a:ln>
            <a:solidFill>
              <a:srgbClr val="D7E0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7315200" cy="182880"/>
          </a:xfrm>
          <a:prstGeom prst="rect">
            <a:avLst/>
          </a:prstGeom>
          <a:noFill/>
        </p:spPr>
        <p:txBody>
          <a:bodyPr wrap="square" lIns="36576" rIns="36576" tIns="18288" anchor="t">
            <a:spAutoFit/>
          </a:bodyPr>
          <a:lstStyle/>
          <a:p>
            <a:pPr algn="l"/>
            <a:r>
              <a:rPr sz="900" b="0">
                <a:solidFill>
                  <a:srgbClr val="5B6968"/>
                </a:solidFill>
                <a:latin typeface="Aptos"/>
              </a:rPr>
              <a:t>Kết quả AI là bản nháp hỗ trợ kiểm toán viên, không thay thế quyết định con người.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554480"/>
            <a:ext cx="2286000" cy="274320"/>
          </a:xfrm>
          <a:prstGeom prst="rect">
            <a:avLst/>
          </a:prstGeom>
          <a:noFill/>
        </p:spPr>
        <p:txBody>
          <a:bodyPr wrap="square" lIns="36576" rIns="36576" tIns="18288" anchor="t">
            <a:spAutoFit/>
          </a:bodyPr>
          <a:lstStyle/>
          <a:p>
            <a:pPr algn="l"/>
            <a:r>
              <a:rPr sz="1600" b="1">
                <a:solidFill>
                  <a:srgbClr val="1A7775"/>
                </a:solidFill>
                <a:latin typeface="Aptos"/>
              </a:rPr>
              <a:t>Văn bản nội bộ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965960"/>
            <a:ext cx="4069080" cy="1965960"/>
          </a:xfrm>
          <a:prstGeom prst="roundRect">
            <a:avLst>
              <a:gd name="adj" fmla="val 12000"/>
            </a:avLst>
          </a:prstGeom>
          <a:solidFill>
            <a:srgbClr val="DAEFE7"/>
          </a:solidFill>
          <a:ln>
            <a:solidFill>
              <a:srgbClr val="DAEF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51560" y="2331720"/>
            <a:ext cx="3383280" cy="822960"/>
          </a:xfrm>
          <a:prstGeom prst="rect">
            <a:avLst/>
          </a:prstGeom>
          <a:noFill/>
        </p:spPr>
        <p:txBody>
          <a:bodyPr wrap="square" lIns="36576" rIns="36576" tIns="18288" anchor="t">
            <a:spAutoFit/>
          </a:bodyPr>
          <a:lstStyle/>
          <a:p>
            <a:pPr algn="l"/>
            <a:r>
              <a:rPr sz="2200" b="1">
                <a:solidFill>
                  <a:srgbClr val="162A3A"/>
                </a:solidFill>
                <a:latin typeface="Georgia"/>
              </a:rPr>
              <a:t>100/QĐ-NHNO-AT
250/QĐ-NHNO-QLRR
315/QC-NHNO-TD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" y="3401568"/>
            <a:ext cx="3383280" cy="228600"/>
          </a:xfrm>
          <a:prstGeom prst="rect">
            <a:avLst/>
          </a:prstGeom>
          <a:noFill/>
        </p:spPr>
        <p:txBody>
          <a:bodyPr wrap="square" lIns="36576" rIns="36576" tIns="18288" anchor="t">
            <a:spAutoFit/>
          </a:bodyPr>
          <a:lstStyle/>
          <a:p>
            <a:pPr algn="l"/>
            <a:r>
              <a:rPr sz="1300" b="0">
                <a:solidFill>
                  <a:srgbClr val="5B6968"/>
                </a:solidFill>
                <a:latin typeface="Aptos"/>
              </a:rPr>
              <a:t>hạn mức · phương tiện · thẩm quyền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5074920" y="2606040"/>
            <a:ext cx="914400" cy="292608"/>
          </a:xfrm>
          <a:prstGeom prst="rightArrow">
            <a:avLst/>
          </a:prstGeom>
          <a:solidFill>
            <a:srgbClr val="E0A643"/>
          </a:solidFill>
          <a:ln>
            <a:solidFill>
              <a:srgbClr val="E0A6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74920" y="3154680"/>
            <a:ext cx="914400" cy="457200"/>
          </a:xfrm>
          <a:prstGeom prst="rect">
            <a:avLst/>
          </a:prstGeom>
          <a:noFill/>
        </p:spPr>
        <p:txBody>
          <a:bodyPr wrap="square" lIns="36576" rIns="36576" tIns="18288" anchor="t">
            <a:spAutoFit/>
          </a:bodyPr>
          <a:lstStyle/>
          <a:p>
            <a:pPr algn="ctr"/>
            <a:r>
              <a:rPr sz="1300" b="1">
                <a:solidFill>
                  <a:srgbClr val="162A3A"/>
                </a:solidFill>
                <a:latin typeface="Aptos"/>
              </a:rPr>
              <a:t>Evidence
package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0" y="1554480"/>
            <a:ext cx="2560320" cy="274320"/>
          </a:xfrm>
          <a:prstGeom prst="rect">
            <a:avLst/>
          </a:prstGeom>
          <a:noFill/>
        </p:spPr>
        <p:txBody>
          <a:bodyPr wrap="square" lIns="36576" rIns="36576" tIns="18288" anchor="t">
            <a:spAutoFit/>
          </a:bodyPr>
          <a:lstStyle/>
          <a:p>
            <a:pPr algn="l"/>
            <a:r>
              <a:rPr sz="1600" b="1">
                <a:solidFill>
                  <a:srgbClr val="CC574B"/>
                </a:solidFill>
                <a:latin typeface="Aptos"/>
              </a:rPr>
              <a:t>Văn bản pháp luật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583680" y="1965960"/>
            <a:ext cx="4754880" cy="1965960"/>
          </a:xfrm>
          <a:prstGeom prst="roundRect">
            <a:avLst>
              <a:gd name="adj" fmla="val 12000"/>
            </a:avLst>
          </a:prstGeom>
          <a:solidFill>
            <a:srgbClr val="FAE1DC"/>
          </a:solidFill>
          <a:ln>
            <a:solidFill>
              <a:srgbClr val="FAE1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903720" y="2331720"/>
            <a:ext cx="4069080" cy="822960"/>
          </a:xfrm>
          <a:prstGeom prst="rect">
            <a:avLst/>
          </a:prstGeom>
          <a:noFill/>
        </p:spPr>
        <p:txBody>
          <a:bodyPr wrap="square" lIns="36576" rIns="36576" tIns="18288" anchor="t">
            <a:spAutoFit/>
          </a:bodyPr>
          <a:lstStyle/>
          <a:p>
            <a:pPr algn="l"/>
            <a:r>
              <a:rPr sz="2100" b="1">
                <a:solidFill>
                  <a:srgbClr val="162A3A"/>
                </a:solidFill>
                <a:latin typeface="Georgia"/>
              </a:rPr>
              <a:t>01/2014/TT-NHNN
41/2016/TT-NHNN
Nghị định / Luật liên quan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903720" y="3401568"/>
            <a:ext cx="4069080" cy="228600"/>
          </a:xfrm>
          <a:prstGeom prst="rect">
            <a:avLst/>
          </a:prstGeom>
          <a:noFill/>
        </p:spPr>
        <p:txBody>
          <a:bodyPr wrap="square" lIns="36576" rIns="36576" tIns="18288" anchor="t">
            <a:spAutoFit/>
          </a:bodyPr>
          <a:lstStyle/>
          <a:p>
            <a:pPr algn="l"/>
            <a:r>
              <a:rPr sz="1300" b="0">
                <a:solidFill>
                  <a:srgbClr val="5B6968"/>
                </a:solidFill>
                <a:latin typeface="Aptos"/>
              </a:rPr>
              <a:t>điều · khoản · hiệu lực · phạm vi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60120" y="4709160"/>
            <a:ext cx="10241280" cy="6400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7E0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234440" y="4901184"/>
            <a:ext cx="1371600" cy="228600"/>
          </a:xfrm>
          <a:prstGeom prst="rect">
            <a:avLst/>
          </a:prstGeom>
          <a:noFill/>
        </p:spPr>
        <p:txBody>
          <a:bodyPr wrap="square" lIns="36576" rIns="36576" tIns="18288" anchor="t">
            <a:spAutoFit/>
          </a:bodyPr>
          <a:lstStyle/>
          <a:p>
            <a:pPr algn="l"/>
            <a:r>
              <a:rPr sz="1500" b="1">
                <a:solidFill>
                  <a:srgbClr val="1A7775"/>
                </a:solidFill>
                <a:latin typeface="Aptos"/>
              </a:rPr>
              <a:t>Kết quả P2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743200" y="4901184"/>
            <a:ext cx="7772400" cy="228600"/>
          </a:xfrm>
          <a:prstGeom prst="rect">
            <a:avLst/>
          </a:prstGeom>
          <a:noFill/>
        </p:spPr>
        <p:txBody>
          <a:bodyPr wrap="square" lIns="36576" rIns="36576" tIns="18288" anchor="t">
            <a:spAutoFit/>
          </a:bodyPr>
          <a:lstStyle/>
          <a:p>
            <a:pPr algn="l"/>
            <a:r>
              <a:rPr sz="1700" b="1">
                <a:solidFill>
                  <a:srgbClr val="162A3A"/>
                </a:solidFill>
                <a:latin typeface="Aptos"/>
              </a:rPr>
              <a:t>3 findings  ·  Citation PASS  ·  Human review REQUIRED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6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A7775"/>
          </a:solidFill>
          <a:ln>
            <a:solidFill>
              <a:srgbClr val="1A77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84048"/>
            <a:ext cx="5669280" cy="228600"/>
          </a:xfrm>
          <a:prstGeom prst="rect">
            <a:avLst/>
          </a:prstGeom>
          <a:noFill/>
        </p:spPr>
        <p:txBody>
          <a:bodyPr wrap="square" lIns="36576" rIns="36576" tIns="18288" anchor="t">
            <a:spAutoFit/>
          </a:bodyPr>
          <a:lstStyle/>
          <a:p>
            <a:pPr algn="l"/>
            <a:r>
              <a:rPr sz="1000" b="1">
                <a:solidFill>
                  <a:srgbClr val="1A7775"/>
                </a:solidFill>
                <a:latin typeface="Aptos"/>
              </a:rPr>
              <a:t>BUỔI 18 / AI COMPLIANCE &amp; AUDIT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13232"/>
            <a:ext cx="10515600" cy="566928"/>
          </a:xfrm>
          <a:prstGeom prst="rect">
            <a:avLst/>
          </a:prstGeom>
          <a:noFill/>
        </p:spPr>
        <p:txBody>
          <a:bodyPr wrap="square" lIns="36576" rIns="36576" tIns="18288" anchor="t">
            <a:spAutoFit/>
          </a:bodyPr>
          <a:lstStyle/>
          <a:p>
            <a:pPr algn="l"/>
            <a:r>
              <a:rPr sz="2700" b="1">
                <a:solidFill>
                  <a:srgbClr val="162A3A"/>
                </a:solidFill>
                <a:latin typeface="Georgia"/>
              </a:rPr>
              <a:t>UC4 · Audit Checklist: từ điều khoản đến câu hỏi kiểm toán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402336"/>
            <a:ext cx="457200" cy="274320"/>
          </a:xfrm>
          <a:prstGeom prst="rect">
            <a:avLst/>
          </a:prstGeom>
          <a:noFill/>
        </p:spPr>
        <p:txBody>
          <a:bodyPr wrap="square" lIns="36576" rIns="36576" tIns="18288" anchor="t">
            <a:spAutoFit/>
          </a:bodyPr>
          <a:lstStyle/>
          <a:p>
            <a:pPr algn="r"/>
            <a:r>
              <a:rPr sz="1200" b="1">
                <a:solidFill>
                  <a:srgbClr val="5B6968"/>
                </a:solidFill>
                <a:latin typeface="Aptos"/>
              </a:rPr>
              <a:t>06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6382512"/>
            <a:ext cx="11155680" cy="10972"/>
          </a:xfrm>
          <a:prstGeom prst="rect">
            <a:avLst/>
          </a:prstGeom>
          <a:solidFill>
            <a:srgbClr val="D7E0DA"/>
          </a:solidFill>
          <a:ln>
            <a:solidFill>
              <a:srgbClr val="D7E0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7315200" cy="182880"/>
          </a:xfrm>
          <a:prstGeom prst="rect">
            <a:avLst/>
          </a:prstGeom>
          <a:noFill/>
        </p:spPr>
        <p:txBody>
          <a:bodyPr wrap="square" lIns="36576" rIns="36576" tIns="18288" anchor="t">
            <a:spAutoFit/>
          </a:bodyPr>
          <a:lstStyle/>
          <a:p>
            <a:pPr algn="l"/>
            <a:r>
              <a:rPr sz="900" b="0">
                <a:solidFill>
                  <a:srgbClr val="5B6968"/>
                </a:solidFill>
                <a:latin typeface="Aptos"/>
              </a:rPr>
              <a:t>Kết quả AI là bản nháp hỗ trợ kiểm toán viên, không thay thế quyết định con người.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508760"/>
            <a:ext cx="2926080" cy="274320"/>
          </a:xfrm>
          <a:prstGeom prst="rect">
            <a:avLst/>
          </a:prstGeom>
          <a:noFill/>
        </p:spPr>
        <p:txBody>
          <a:bodyPr wrap="square" lIns="36576" rIns="36576" tIns="18288" anchor="t">
            <a:spAutoFit/>
          </a:bodyPr>
          <a:lstStyle/>
          <a:p>
            <a:pPr algn="l"/>
            <a:r>
              <a:rPr sz="1700" b="1">
                <a:solidFill>
                  <a:srgbClr val="1A7775"/>
                </a:solidFill>
                <a:latin typeface="Aptos"/>
              </a:rPr>
              <a:t>An toàn kho quỹ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09360" y="1508760"/>
            <a:ext cx="3108960" cy="274320"/>
          </a:xfrm>
          <a:prstGeom prst="rect">
            <a:avLst/>
          </a:prstGeom>
          <a:noFill/>
        </p:spPr>
        <p:txBody>
          <a:bodyPr wrap="square" lIns="36576" rIns="36576" tIns="18288" anchor="t">
            <a:spAutoFit/>
          </a:bodyPr>
          <a:lstStyle/>
          <a:p>
            <a:pPr algn="l"/>
            <a:r>
              <a:rPr sz="1700" b="1">
                <a:solidFill>
                  <a:srgbClr val="CC574B"/>
                </a:solidFill>
                <a:latin typeface="Aptos"/>
              </a:rPr>
              <a:t>Bảo mật CNTT &amp; AI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1920240"/>
            <a:ext cx="5074920" cy="2834640"/>
          </a:xfrm>
          <a:prstGeom prst="roundRect">
            <a:avLst>
              <a:gd name="adj" fmla="val 12000"/>
            </a:avLst>
          </a:prstGeom>
          <a:solidFill>
            <a:srgbClr val="DAEFE7"/>
          </a:solidFill>
          <a:ln>
            <a:solidFill>
              <a:srgbClr val="DAEF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87552" y="2212848"/>
            <a:ext cx="777240" cy="228600"/>
          </a:xfrm>
          <a:prstGeom prst="rect">
            <a:avLst/>
          </a:prstGeom>
          <a:noFill/>
        </p:spPr>
        <p:txBody>
          <a:bodyPr wrap="square" lIns="36576" rIns="36576" tIns="18288" anchor="t">
            <a:spAutoFit/>
          </a:bodyPr>
          <a:lstStyle/>
          <a:p>
            <a:pPr algn="l"/>
            <a:r>
              <a:rPr sz="1200" b="1">
                <a:solidFill>
                  <a:srgbClr val="162A3A"/>
                </a:solidFill>
                <a:latin typeface="Aptos"/>
              </a:rPr>
              <a:t>CHK_01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74519" y="2212848"/>
            <a:ext cx="3063240" cy="274320"/>
          </a:xfrm>
          <a:prstGeom prst="rect">
            <a:avLst/>
          </a:prstGeom>
          <a:noFill/>
        </p:spPr>
        <p:txBody>
          <a:bodyPr wrap="square" lIns="36576" rIns="36576" tIns="18288" anchor="t">
            <a:spAutoFit/>
          </a:bodyPr>
          <a:lstStyle/>
          <a:p>
            <a:pPr algn="l"/>
            <a:r>
              <a:rPr sz="1500" b="1">
                <a:solidFill>
                  <a:srgbClr val="1E2A2E"/>
                </a:solidFill>
                <a:latin typeface="Aptos"/>
              </a:rPr>
              <a:t>Xe bọc thép / phương án bảo vệ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983480" y="2185416"/>
            <a:ext cx="594360" cy="329184"/>
          </a:xfrm>
          <a:prstGeom prst="roundRect">
            <a:avLst>
              <a:gd name="adj" fmla="val 12000"/>
            </a:avLst>
          </a:prstGeom>
          <a:solidFill>
            <a:srgbClr val="FAEFCF"/>
          </a:solidFill>
          <a:ln>
            <a:solidFill>
              <a:srgbClr val="FAEF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983480" y="2231136"/>
            <a:ext cx="594360" cy="201168"/>
          </a:xfrm>
          <a:prstGeom prst="rect">
            <a:avLst/>
          </a:prstGeom>
          <a:noFill/>
        </p:spPr>
        <p:txBody>
          <a:bodyPr wrap="square" lIns="36576" rIns="36576" tIns="18288" anchor="t">
            <a:spAutoFit/>
          </a:bodyPr>
          <a:lstStyle/>
          <a:p>
            <a:pPr algn="ctr"/>
            <a:r>
              <a:rPr sz="1000" b="1">
                <a:solidFill>
                  <a:srgbClr val="162A3A"/>
                </a:solidFill>
                <a:latin typeface="Aptos"/>
              </a:rPr>
              <a:t>HIGH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87552" y="2944368"/>
            <a:ext cx="777240" cy="228600"/>
          </a:xfrm>
          <a:prstGeom prst="rect">
            <a:avLst/>
          </a:prstGeom>
          <a:noFill/>
        </p:spPr>
        <p:txBody>
          <a:bodyPr wrap="square" lIns="36576" rIns="36576" tIns="18288" anchor="t">
            <a:spAutoFit/>
          </a:bodyPr>
          <a:lstStyle/>
          <a:p>
            <a:pPr algn="l"/>
            <a:r>
              <a:rPr sz="1200" b="1">
                <a:solidFill>
                  <a:srgbClr val="162A3A"/>
                </a:solidFill>
                <a:latin typeface="Aptos"/>
              </a:rPr>
              <a:t>CHK_02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874519" y="2944368"/>
            <a:ext cx="3063240" cy="274320"/>
          </a:xfrm>
          <a:prstGeom prst="rect">
            <a:avLst/>
          </a:prstGeom>
          <a:noFill/>
        </p:spPr>
        <p:txBody>
          <a:bodyPr wrap="square" lIns="36576" rIns="36576" tIns="18288" anchor="t">
            <a:spAutoFit/>
          </a:bodyPr>
          <a:lstStyle/>
          <a:p>
            <a:pPr algn="l"/>
            <a:r>
              <a:rPr sz="1500" b="1">
                <a:solidFill>
                  <a:srgbClr val="1E2A2E"/>
                </a:solidFill>
                <a:latin typeface="Aptos"/>
              </a:rPr>
              <a:t>Kiểm đếm / niêm phong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983480" y="2916936"/>
            <a:ext cx="594360" cy="329184"/>
          </a:xfrm>
          <a:prstGeom prst="roundRect">
            <a:avLst>
              <a:gd name="adj" fmla="val 12000"/>
            </a:avLst>
          </a:prstGeom>
          <a:solidFill>
            <a:srgbClr val="DAEFE7"/>
          </a:solidFill>
          <a:ln>
            <a:solidFill>
              <a:srgbClr val="DAEF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983480" y="2962656"/>
            <a:ext cx="594360" cy="201168"/>
          </a:xfrm>
          <a:prstGeom prst="rect">
            <a:avLst/>
          </a:prstGeom>
          <a:noFill/>
        </p:spPr>
        <p:txBody>
          <a:bodyPr wrap="square" lIns="36576" rIns="36576" tIns="18288" anchor="t">
            <a:spAutoFit/>
          </a:bodyPr>
          <a:lstStyle/>
          <a:p>
            <a:pPr algn="ctr"/>
            <a:r>
              <a:rPr sz="1000" b="1">
                <a:solidFill>
                  <a:srgbClr val="162A3A"/>
                </a:solidFill>
                <a:latin typeface="Aptos"/>
              </a:rPr>
              <a:t>MEDIUM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87552" y="3675887"/>
            <a:ext cx="777240" cy="228600"/>
          </a:xfrm>
          <a:prstGeom prst="rect">
            <a:avLst/>
          </a:prstGeom>
          <a:noFill/>
        </p:spPr>
        <p:txBody>
          <a:bodyPr wrap="square" lIns="36576" rIns="36576" tIns="18288" anchor="t">
            <a:spAutoFit/>
          </a:bodyPr>
          <a:lstStyle/>
          <a:p>
            <a:pPr algn="l"/>
            <a:r>
              <a:rPr sz="1200" b="1">
                <a:solidFill>
                  <a:srgbClr val="162A3A"/>
                </a:solidFill>
                <a:latin typeface="Aptos"/>
              </a:rPr>
              <a:t>CHK_03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874519" y="3675887"/>
            <a:ext cx="3063240" cy="274320"/>
          </a:xfrm>
          <a:prstGeom prst="rect">
            <a:avLst/>
          </a:prstGeom>
          <a:noFill/>
        </p:spPr>
        <p:txBody>
          <a:bodyPr wrap="square" lIns="36576" rIns="36576" tIns="18288" anchor="t">
            <a:spAutoFit/>
          </a:bodyPr>
          <a:lstStyle/>
          <a:p>
            <a:pPr algn="l"/>
            <a:r>
              <a:rPr sz="1500" b="1">
                <a:solidFill>
                  <a:srgbClr val="1E2A2E"/>
                </a:solidFill>
                <a:latin typeface="Aptos"/>
              </a:rPr>
              <a:t>Ban quản lý kho tiền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983480" y="3648456"/>
            <a:ext cx="594360" cy="329184"/>
          </a:xfrm>
          <a:prstGeom prst="roundRect">
            <a:avLst>
              <a:gd name="adj" fmla="val 12000"/>
            </a:avLst>
          </a:prstGeom>
          <a:solidFill>
            <a:srgbClr val="DAEFE7"/>
          </a:solidFill>
          <a:ln>
            <a:solidFill>
              <a:srgbClr val="DAEF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983480" y="3694176"/>
            <a:ext cx="594360" cy="201168"/>
          </a:xfrm>
          <a:prstGeom prst="rect">
            <a:avLst/>
          </a:prstGeom>
          <a:noFill/>
        </p:spPr>
        <p:txBody>
          <a:bodyPr wrap="square" lIns="36576" rIns="36576" tIns="18288" anchor="t">
            <a:spAutoFit/>
          </a:bodyPr>
          <a:lstStyle/>
          <a:p>
            <a:pPr algn="ctr"/>
            <a:r>
              <a:rPr sz="1000" b="1">
                <a:solidFill>
                  <a:srgbClr val="162A3A"/>
                </a:solidFill>
                <a:latin typeface="Aptos"/>
              </a:rPr>
              <a:t>MEDIUM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309360" y="1920240"/>
            <a:ext cx="5074920" cy="2834640"/>
          </a:xfrm>
          <a:prstGeom prst="roundRect">
            <a:avLst>
              <a:gd name="adj" fmla="val 12000"/>
            </a:avLst>
          </a:prstGeom>
          <a:solidFill>
            <a:srgbClr val="FAE1DC"/>
          </a:solidFill>
          <a:ln>
            <a:solidFill>
              <a:srgbClr val="FAE1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565392" y="2212848"/>
            <a:ext cx="777240" cy="228600"/>
          </a:xfrm>
          <a:prstGeom prst="rect">
            <a:avLst/>
          </a:prstGeom>
          <a:noFill/>
        </p:spPr>
        <p:txBody>
          <a:bodyPr wrap="square" lIns="36576" rIns="36576" tIns="18288" anchor="t">
            <a:spAutoFit/>
          </a:bodyPr>
          <a:lstStyle/>
          <a:p>
            <a:pPr algn="l"/>
            <a:r>
              <a:rPr sz="1200" b="1">
                <a:solidFill>
                  <a:srgbClr val="162A3A"/>
                </a:solidFill>
                <a:latin typeface="Aptos"/>
              </a:rPr>
              <a:t>CHK_01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452360" y="2212848"/>
            <a:ext cx="3063240" cy="274320"/>
          </a:xfrm>
          <a:prstGeom prst="rect">
            <a:avLst/>
          </a:prstGeom>
          <a:noFill/>
        </p:spPr>
        <p:txBody>
          <a:bodyPr wrap="square" lIns="36576" rIns="36576" tIns="18288" anchor="t">
            <a:spAutoFit/>
          </a:bodyPr>
          <a:lstStyle/>
          <a:p>
            <a:pPr algn="l"/>
            <a:r>
              <a:rPr sz="1500" b="1">
                <a:solidFill>
                  <a:srgbClr val="1E2A2E"/>
                </a:solidFill>
                <a:latin typeface="Aptos"/>
              </a:rPr>
              <a:t>Mã hóa dữ liệu AI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0561320" y="2185416"/>
            <a:ext cx="594360" cy="329184"/>
          </a:xfrm>
          <a:prstGeom prst="roundRect">
            <a:avLst>
              <a:gd name="adj" fmla="val 12000"/>
            </a:avLst>
          </a:prstGeom>
          <a:solidFill>
            <a:srgbClr val="FAEFCF"/>
          </a:solidFill>
          <a:ln>
            <a:solidFill>
              <a:srgbClr val="FAEF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561320" y="2231136"/>
            <a:ext cx="594360" cy="201168"/>
          </a:xfrm>
          <a:prstGeom prst="rect">
            <a:avLst/>
          </a:prstGeom>
          <a:noFill/>
        </p:spPr>
        <p:txBody>
          <a:bodyPr wrap="square" lIns="36576" rIns="36576" tIns="18288" anchor="t">
            <a:spAutoFit/>
          </a:bodyPr>
          <a:lstStyle/>
          <a:p>
            <a:pPr algn="ctr"/>
            <a:r>
              <a:rPr sz="1000" b="1">
                <a:solidFill>
                  <a:srgbClr val="162A3A"/>
                </a:solidFill>
                <a:latin typeface="Aptos"/>
              </a:rPr>
              <a:t>HIGH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65392" y="2944368"/>
            <a:ext cx="777240" cy="228600"/>
          </a:xfrm>
          <a:prstGeom prst="rect">
            <a:avLst/>
          </a:prstGeom>
          <a:noFill/>
        </p:spPr>
        <p:txBody>
          <a:bodyPr wrap="square" lIns="36576" rIns="36576" tIns="18288" anchor="t">
            <a:spAutoFit/>
          </a:bodyPr>
          <a:lstStyle/>
          <a:p>
            <a:pPr algn="l"/>
            <a:r>
              <a:rPr sz="1200" b="1">
                <a:solidFill>
                  <a:srgbClr val="162A3A"/>
                </a:solidFill>
                <a:latin typeface="Aptos"/>
              </a:rPr>
              <a:t>CHK_02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52360" y="2944368"/>
            <a:ext cx="3063240" cy="274320"/>
          </a:xfrm>
          <a:prstGeom prst="rect">
            <a:avLst/>
          </a:prstGeom>
          <a:noFill/>
        </p:spPr>
        <p:txBody>
          <a:bodyPr wrap="square" lIns="36576" rIns="36576" tIns="18288" anchor="t">
            <a:spAutoFit/>
          </a:bodyPr>
          <a:lstStyle/>
          <a:p>
            <a:pPr algn="l"/>
            <a:r>
              <a:rPr sz="1500" b="1">
                <a:solidFill>
                  <a:srgbClr val="1E2A2E"/>
                </a:solidFill>
                <a:latin typeface="Aptos"/>
              </a:rPr>
              <a:t>Lưu audit trail 12 tháng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0561320" y="2916936"/>
            <a:ext cx="594360" cy="329184"/>
          </a:xfrm>
          <a:prstGeom prst="roundRect">
            <a:avLst>
              <a:gd name="adj" fmla="val 12000"/>
            </a:avLst>
          </a:prstGeom>
          <a:solidFill>
            <a:srgbClr val="FAEFCF"/>
          </a:solidFill>
          <a:ln>
            <a:solidFill>
              <a:srgbClr val="FAEF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561320" y="2962656"/>
            <a:ext cx="594360" cy="201168"/>
          </a:xfrm>
          <a:prstGeom prst="rect">
            <a:avLst/>
          </a:prstGeom>
          <a:noFill/>
        </p:spPr>
        <p:txBody>
          <a:bodyPr wrap="square" lIns="36576" rIns="36576" tIns="18288" anchor="t">
            <a:spAutoFit/>
          </a:bodyPr>
          <a:lstStyle/>
          <a:p>
            <a:pPr algn="ctr"/>
            <a:r>
              <a:rPr sz="1000" b="1">
                <a:solidFill>
                  <a:srgbClr val="162A3A"/>
                </a:solidFill>
                <a:latin typeface="Aptos"/>
              </a:rPr>
              <a:t>HIGH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14400" y="5285232"/>
            <a:ext cx="10241280" cy="292608"/>
          </a:xfrm>
          <a:prstGeom prst="rect">
            <a:avLst/>
          </a:prstGeom>
          <a:noFill/>
        </p:spPr>
        <p:txBody>
          <a:bodyPr wrap="square" lIns="36576" rIns="36576" tIns="18288" anchor="t">
            <a:spAutoFit/>
          </a:bodyPr>
          <a:lstStyle/>
          <a:p>
            <a:pPr algn="ctr"/>
            <a:r>
              <a:rPr sz="1800" b="1">
                <a:solidFill>
                  <a:srgbClr val="162A3A"/>
                </a:solidFill>
                <a:latin typeface="Georgia"/>
              </a:rPr>
              <a:t>Kết quả P3: 6 items · citations attached · mọi item cần xác minh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6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A7775"/>
          </a:solidFill>
          <a:ln>
            <a:solidFill>
              <a:srgbClr val="1A77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84048"/>
            <a:ext cx="5669280" cy="228600"/>
          </a:xfrm>
          <a:prstGeom prst="rect">
            <a:avLst/>
          </a:prstGeom>
          <a:noFill/>
        </p:spPr>
        <p:txBody>
          <a:bodyPr wrap="square" lIns="36576" rIns="36576" tIns="18288" anchor="t">
            <a:spAutoFit/>
          </a:bodyPr>
          <a:lstStyle/>
          <a:p>
            <a:pPr algn="l"/>
            <a:r>
              <a:rPr sz="1000" b="1">
                <a:solidFill>
                  <a:srgbClr val="1A7775"/>
                </a:solidFill>
                <a:latin typeface="Aptos"/>
              </a:rPr>
              <a:t>BUỔI 18 / AI COMPLIANCE &amp; AUDIT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13232"/>
            <a:ext cx="10515600" cy="566928"/>
          </a:xfrm>
          <a:prstGeom prst="rect">
            <a:avLst/>
          </a:prstGeom>
          <a:noFill/>
        </p:spPr>
        <p:txBody>
          <a:bodyPr wrap="square" lIns="36576" rIns="36576" tIns="18288" anchor="t">
            <a:spAutoFit/>
          </a:bodyPr>
          <a:lstStyle/>
          <a:p>
            <a:pPr algn="l"/>
            <a:r>
              <a:rPr sz="2700" b="1">
                <a:solidFill>
                  <a:srgbClr val="162A3A"/>
                </a:solidFill>
                <a:latin typeface="Georgia"/>
              </a:rPr>
              <a:t>Guardrails: AI có thể gợi ý, nhưng không tự phê duyệt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402336"/>
            <a:ext cx="457200" cy="274320"/>
          </a:xfrm>
          <a:prstGeom prst="rect">
            <a:avLst/>
          </a:prstGeom>
          <a:noFill/>
        </p:spPr>
        <p:txBody>
          <a:bodyPr wrap="square" lIns="36576" rIns="36576" tIns="18288" anchor="t">
            <a:spAutoFit/>
          </a:bodyPr>
          <a:lstStyle/>
          <a:p>
            <a:pPr algn="r"/>
            <a:r>
              <a:rPr sz="1200" b="1">
                <a:solidFill>
                  <a:srgbClr val="5B6968"/>
                </a:solidFill>
                <a:latin typeface="Aptos"/>
              </a:rPr>
              <a:t>07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6382512"/>
            <a:ext cx="11155680" cy="10972"/>
          </a:xfrm>
          <a:prstGeom prst="rect">
            <a:avLst/>
          </a:prstGeom>
          <a:solidFill>
            <a:srgbClr val="D7E0DA"/>
          </a:solidFill>
          <a:ln>
            <a:solidFill>
              <a:srgbClr val="D7E0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7315200" cy="182880"/>
          </a:xfrm>
          <a:prstGeom prst="rect">
            <a:avLst/>
          </a:prstGeom>
          <a:noFill/>
        </p:spPr>
        <p:txBody>
          <a:bodyPr wrap="square" lIns="36576" rIns="36576" tIns="18288" anchor="t">
            <a:spAutoFit/>
          </a:bodyPr>
          <a:lstStyle/>
          <a:p>
            <a:pPr algn="l"/>
            <a:r>
              <a:rPr sz="900" b="0">
                <a:solidFill>
                  <a:srgbClr val="5B6968"/>
                </a:solidFill>
                <a:latin typeface="Aptos"/>
              </a:rPr>
              <a:t>Kết quả AI là bản nháp hỗ trợ kiểm toán viên, không thay thế quyết định con người.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1600200"/>
            <a:ext cx="4892040" cy="1417320"/>
          </a:xfrm>
          <a:prstGeom prst="roundRect">
            <a:avLst>
              <a:gd name="adj" fmla="val 12000"/>
            </a:avLst>
          </a:prstGeom>
          <a:solidFill>
            <a:srgbClr val="DAEFE7"/>
          </a:solidFill>
          <a:ln>
            <a:solidFill>
              <a:srgbClr val="DAEF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1856232"/>
            <a:ext cx="457200" cy="502920"/>
          </a:xfrm>
          <a:prstGeom prst="rect">
            <a:avLst/>
          </a:prstGeom>
          <a:noFill/>
        </p:spPr>
        <p:txBody>
          <a:bodyPr wrap="square" lIns="36576" rIns="36576" tIns="18288" anchor="t">
            <a:spAutoFit/>
          </a:bodyPr>
          <a:lstStyle/>
          <a:p>
            <a:pPr algn="l"/>
            <a:r>
              <a:rPr sz="3000" b="1">
                <a:solidFill>
                  <a:srgbClr val="1A7775"/>
                </a:solidFill>
                <a:latin typeface="Aptos"/>
              </a:rPr>
              <a:t>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45919" y="1874519"/>
            <a:ext cx="2011680" cy="246888"/>
          </a:xfrm>
          <a:prstGeom prst="rect">
            <a:avLst/>
          </a:prstGeom>
          <a:noFill/>
        </p:spPr>
        <p:txBody>
          <a:bodyPr wrap="square" lIns="36576" rIns="36576" tIns="18288" anchor="t">
            <a:spAutoFit/>
          </a:bodyPr>
          <a:lstStyle/>
          <a:p>
            <a:pPr algn="l"/>
            <a:r>
              <a:rPr sz="1500" b="1">
                <a:solidFill>
                  <a:srgbClr val="162A3A"/>
                </a:solidFill>
                <a:latin typeface="Aptos"/>
              </a:rPr>
              <a:t>RBAC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45919" y="2313432"/>
            <a:ext cx="3566160" cy="320040"/>
          </a:xfrm>
          <a:prstGeom prst="rect">
            <a:avLst/>
          </a:prstGeom>
          <a:noFill/>
        </p:spPr>
        <p:txBody>
          <a:bodyPr wrap="square" lIns="36576" rIns="36576" tIns="18288" anchor="t">
            <a:spAutoFit/>
          </a:bodyPr>
          <a:lstStyle/>
          <a:p>
            <a:pPr algn="l"/>
            <a:r>
              <a:rPr sz="1500" b="0">
                <a:solidFill>
                  <a:srgbClr val="1E2A2E"/>
                </a:solidFill>
                <a:latin typeface="Aptos"/>
              </a:rPr>
              <a:t>Staff không thấy dữ liệu restricted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309359" y="1600200"/>
            <a:ext cx="4892040" cy="1417320"/>
          </a:xfrm>
          <a:prstGeom prst="roundRect">
            <a:avLst>
              <a:gd name="adj" fmla="val 12000"/>
            </a:avLst>
          </a:prstGeom>
          <a:solidFill>
            <a:srgbClr val="FAEFCF"/>
          </a:solidFill>
          <a:ln>
            <a:solidFill>
              <a:srgbClr val="FAEF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37959" y="1856232"/>
            <a:ext cx="457200" cy="502920"/>
          </a:xfrm>
          <a:prstGeom prst="rect">
            <a:avLst/>
          </a:prstGeom>
          <a:noFill/>
        </p:spPr>
        <p:txBody>
          <a:bodyPr wrap="square" lIns="36576" rIns="36576" tIns="18288" anchor="t">
            <a:spAutoFit/>
          </a:bodyPr>
          <a:lstStyle/>
          <a:p>
            <a:pPr algn="l"/>
            <a:r>
              <a:rPr sz="3000" b="1">
                <a:solidFill>
                  <a:srgbClr val="1A7775"/>
                </a:solidFill>
                <a:latin typeface="Aptos"/>
              </a:rPr>
              <a:t>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178040" y="1874519"/>
            <a:ext cx="2011680" cy="246888"/>
          </a:xfrm>
          <a:prstGeom prst="rect">
            <a:avLst/>
          </a:prstGeom>
          <a:noFill/>
        </p:spPr>
        <p:txBody>
          <a:bodyPr wrap="square" lIns="36576" rIns="36576" tIns="18288" anchor="t">
            <a:spAutoFit/>
          </a:bodyPr>
          <a:lstStyle/>
          <a:p>
            <a:pPr algn="l"/>
            <a:r>
              <a:rPr sz="1500" b="1">
                <a:solidFill>
                  <a:srgbClr val="162A3A"/>
                </a:solidFill>
                <a:latin typeface="Aptos"/>
              </a:rPr>
              <a:t>CITATION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178040" y="2313432"/>
            <a:ext cx="3566160" cy="320040"/>
          </a:xfrm>
          <a:prstGeom prst="rect">
            <a:avLst/>
          </a:prstGeom>
          <a:noFill/>
        </p:spPr>
        <p:txBody>
          <a:bodyPr wrap="square" lIns="36576" rIns="36576" tIns="18288" anchor="t">
            <a:spAutoFit/>
          </a:bodyPr>
          <a:lstStyle/>
          <a:p>
            <a:pPr algn="l"/>
            <a:r>
              <a:rPr sz="1500" b="0">
                <a:solidFill>
                  <a:srgbClr val="1E2A2E"/>
                </a:solidFill>
                <a:latin typeface="Aptos"/>
              </a:rPr>
              <a:t>Citation phải tồn tại trong corpus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77240" y="3566160"/>
            <a:ext cx="4892040" cy="1417320"/>
          </a:xfrm>
          <a:prstGeom prst="roundRect">
            <a:avLst>
              <a:gd name="adj" fmla="val 12000"/>
            </a:avLst>
          </a:prstGeom>
          <a:solidFill>
            <a:srgbClr val="FAE1DC"/>
          </a:solidFill>
          <a:ln>
            <a:solidFill>
              <a:srgbClr val="FAE1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05840" y="3822191"/>
            <a:ext cx="457200" cy="502920"/>
          </a:xfrm>
          <a:prstGeom prst="rect">
            <a:avLst/>
          </a:prstGeom>
          <a:noFill/>
        </p:spPr>
        <p:txBody>
          <a:bodyPr wrap="square" lIns="36576" rIns="36576" tIns="18288" anchor="t">
            <a:spAutoFit/>
          </a:bodyPr>
          <a:lstStyle/>
          <a:p>
            <a:pPr algn="l"/>
            <a:r>
              <a:rPr sz="3000" b="1">
                <a:solidFill>
                  <a:srgbClr val="1A7775"/>
                </a:solidFill>
                <a:latin typeface="Aptos"/>
              </a:rPr>
              <a:t>✓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645919" y="3840480"/>
            <a:ext cx="2011680" cy="246888"/>
          </a:xfrm>
          <a:prstGeom prst="rect">
            <a:avLst/>
          </a:prstGeom>
          <a:noFill/>
        </p:spPr>
        <p:txBody>
          <a:bodyPr wrap="square" lIns="36576" rIns="36576" tIns="18288" anchor="t">
            <a:spAutoFit/>
          </a:bodyPr>
          <a:lstStyle/>
          <a:p>
            <a:pPr algn="l"/>
            <a:r>
              <a:rPr sz="1500" b="1">
                <a:solidFill>
                  <a:srgbClr val="162A3A"/>
                </a:solidFill>
                <a:latin typeface="Aptos"/>
              </a:rPr>
              <a:t>PRIVACY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645919" y="4279392"/>
            <a:ext cx="3566160" cy="320040"/>
          </a:xfrm>
          <a:prstGeom prst="rect">
            <a:avLst/>
          </a:prstGeom>
          <a:noFill/>
        </p:spPr>
        <p:txBody>
          <a:bodyPr wrap="square" lIns="36576" rIns="36576" tIns="18288" anchor="t">
            <a:spAutoFit/>
          </a:bodyPr>
          <a:lstStyle/>
          <a:p>
            <a:pPr algn="l"/>
            <a:r>
              <a:rPr sz="1500" b="0">
                <a:solidFill>
                  <a:srgbClr val="1E2A2E"/>
                </a:solidFill>
                <a:latin typeface="Aptos"/>
              </a:rPr>
              <a:t>Log không chứa secret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309359" y="3566160"/>
            <a:ext cx="4892040" cy="1417320"/>
          </a:xfrm>
          <a:prstGeom prst="roundRect">
            <a:avLst>
              <a:gd name="adj" fmla="val 12000"/>
            </a:avLst>
          </a:prstGeom>
          <a:solidFill>
            <a:srgbClr val="DAEFE7"/>
          </a:solidFill>
          <a:ln>
            <a:solidFill>
              <a:srgbClr val="DAEF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37959" y="3822191"/>
            <a:ext cx="457200" cy="502920"/>
          </a:xfrm>
          <a:prstGeom prst="rect">
            <a:avLst/>
          </a:prstGeom>
          <a:noFill/>
        </p:spPr>
        <p:txBody>
          <a:bodyPr wrap="square" lIns="36576" rIns="36576" tIns="18288" anchor="t">
            <a:spAutoFit/>
          </a:bodyPr>
          <a:lstStyle/>
          <a:p>
            <a:pPr algn="l"/>
            <a:r>
              <a:rPr sz="3000" b="1">
                <a:solidFill>
                  <a:srgbClr val="1A7775"/>
                </a:solidFill>
                <a:latin typeface="Aptos"/>
              </a:rPr>
              <a:t>✓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178040" y="3840480"/>
            <a:ext cx="2011680" cy="246888"/>
          </a:xfrm>
          <a:prstGeom prst="rect">
            <a:avLst/>
          </a:prstGeom>
          <a:noFill/>
        </p:spPr>
        <p:txBody>
          <a:bodyPr wrap="square" lIns="36576" rIns="36576" tIns="18288" anchor="t">
            <a:spAutoFit/>
          </a:bodyPr>
          <a:lstStyle/>
          <a:p>
            <a:pPr algn="l"/>
            <a:r>
              <a:rPr sz="1500" b="1">
                <a:solidFill>
                  <a:srgbClr val="162A3A"/>
                </a:solidFill>
                <a:latin typeface="Aptos"/>
              </a:rPr>
              <a:t>REVIEW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178040" y="4279392"/>
            <a:ext cx="3566160" cy="320040"/>
          </a:xfrm>
          <a:prstGeom prst="rect">
            <a:avLst/>
          </a:prstGeom>
          <a:noFill/>
        </p:spPr>
        <p:txBody>
          <a:bodyPr wrap="square" lIns="36576" rIns="36576" tIns="18288" anchor="t">
            <a:spAutoFit/>
          </a:bodyPr>
          <a:lstStyle/>
          <a:p>
            <a:pPr algn="l"/>
            <a:r>
              <a:rPr sz="1500" b="0">
                <a:solidFill>
                  <a:srgbClr val="1E2A2E"/>
                </a:solidFill>
                <a:latin typeface="Aptos"/>
              </a:rPr>
              <a:t>NEEDS_HUMAN_REVIEW luôn bật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" y="5532120"/>
            <a:ext cx="10241280" cy="320040"/>
          </a:xfrm>
          <a:prstGeom prst="rect">
            <a:avLst/>
          </a:prstGeom>
          <a:noFill/>
        </p:spPr>
        <p:txBody>
          <a:bodyPr wrap="square" lIns="36576" rIns="36576" tIns="18288" anchor="t">
            <a:spAutoFit/>
          </a:bodyPr>
          <a:lstStyle/>
          <a:p>
            <a:pPr algn="ctr"/>
            <a:r>
              <a:rPr sz="2000" b="1">
                <a:solidFill>
                  <a:srgbClr val="1A7775"/>
                </a:solidFill>
                <a:latin typeface="Georgia"/>
              </a:rPr>
              <a:t>P5 SECURITY &amp; GUARDRAIL TESTS: 7/7 PASS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6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A7775"/>
          </a:solidFill>
          <a:ln>
            <a:solidFill>
              <a:srgbClr val="1A77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84048"/>
            <a:ext cx="5669280" cy="228600"/>
          </a:xfrm>
          <a:prstGeom prst="rect">
            <a:avLst/>
          </a:prstGeom>
          <a:noFill/>
        </p:spPr>
        <p:txBody>
          <a:bodyPr wrap="square" lIns="36576" rIns="36576" tIns="18288" anchor="t">
            <a:spAutoFit/>
          </a:bodyPr>
          <a:lstStyle/>
          <a:p>
            <a:pPr algn="l"/>
            <a:r>
              <a:rPr sz="1000" b="1">
                <a:solidFill>
                  <a:srgbClr val="1A7775"/>
                </a:solidFill>
                <a:latin typeface="Aptos"/>
              </a:rPr>
              <a:t>BUỔI 18 / AI COMPLIANCE &amp; AUDIT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13232"/>
            <a:ext cx="10515600" cy="566928"/>
          </a:xfrm>
          <a:prstGeom prst="rect">
            <a:avLst/>
          </a:prstGeom>
          <a:noFill/>
        </p:spPr>
        <p:txBody>
          <a:bodyPr wrap="square" lIns="36576" rIns="36576" tIns="18288" anchor="t">
            <a:spAutoFit/>
          </a:bodyPr>
          <a:lstStyle/>
          <a:p>
            <a:pPr algn="l"/>
            <a:r>
              <a:rPr sz="2700" b="1">
                <a:solidFill>
                  <a:srgbClr val="162A3A"/>
                </a:solidFill>
                <a:latin typeface="Georgia"/>
              </a:rPr>
              <a:t>Streamlit workbench: ba luồng trong một màn hình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402336"/>
            <a:ext cx="457200" cy="274320"/>
          </a:xfrm>
          <a:prstGeom prst="rect">
            <a:avLst/>
          </a:prstGeom>
          <a:noFill/>
        </p:spPr>
        <p:txBody>
          <a:bodyPr wrap="square" lIns="36576" rIns="36576" tIns="18288" anchor="t">
            <a:spAutoFit/>
          </a:bodyPr>
          <a:lstStyle/>
          <a:p>
            <a:pPr algn="r"/>
            <a:r>
              <a:rPr sz="1200" b="1">
                <a:solidFill>
                  <a:srgbClr val="5B6968"/>
                </a:solidFill>
                <a:latin typeface="Aptos"/>
              </a:rPr>
              <a:t>08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6382512"/>
            <a:ext cx="11155680" cy="10972"/>
          </a:xfrm>
          <a:prstGeom prst="rect">
            <a:avLst/>
          </a:prstGeom>
          <a:solidFill>
            <a:srgbClr val="D7E0DA"/>
          </a:solidFill>
          <a:ln>
            <a:solidFill>
              <a:srgbClr val="D7E0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7315200" cy="182880"/>
          </a:xfrm>
          <a:prstGeom prst="rect">
            <a:avLst/>
          </a:prstGeom>
          <a:noFill/>
        </p:spPr>
        <p:txBody>
          <a:bodyPr wrap="square" lIns="36576" rIns="36576" tIns="18288" anchor="t">
            <a:spAutoFit/>
          </a:bodyPr>
          <a:lstStyle/>
          <a:p>
            <a:pPr algn="l"/>
            <a:r>
              <a:rPr sz="900" b="0">
                <a:solidFill>
                  <a:srgbClr val="5B6968"/>
                </a:solidFill>
                <a:latin typeface="Aptos"/>
              </a:rPr>
              <a:t>Kết quả AI là bản nháp hỗ trợ kiểm toán viên, không thay thế quyết định con người.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691640"/>
            <a:ext cx="2606040" cy="2011680"/>
          </a:xfrm>
          <a:prstGeom prst="roundRect">
            <a:avLst>
              <a:gd name="adj" fmla="val 12000"/>
            </a:avLst>
          </a:prstGeom>
          <a:solidFill>
            <a:srgbClr val="DAEFE7"/>
          </a:solidFill>
          <a:ln>
            <a:solidFill>
              <a:srgbClr val="DAEF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975104"/>
            <a:ext cx="914400" cy="274320"/>
          </a:xfrm>
          <a:prstGeom prst="rect">
            <a:avLst/>
          </a:prstGeom>
          <a:noFill/>
        </p:spPr>
        <p:txBody>
          <a:bodyPr wrap="square" lIns="36576" rIns="36576" tIns="18288" anchor="t">
            <a:spAutoFit/>
          </a:bodyPr>
          <a:lstStyle/>
          <a:p>
            <a:pPr algn="l"/>
            <a:r>
              <a:rPr sz="1800" b="1">
                <a:solidFill>
                  <a:srgbClr val="1A7775"/>
                </a:solidFill>
                <a:latin typeface="Aptos"/>
              </a:rPr>
              <a:t>UC3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2542032"/>
            <a:ext cx="2057400" cy="685800"/>
          </a:xfrm>
          <a:prstGeom prst="rect">
            <a:avLst/>
          </a:prstGeom>
          <a:noFill/>
        </p:spPr>
        <p:txBody>
          <a:bodyPr wrap="square" lIns="36576" rIns="36576" tIns="18288" anchor="t">
            <a:spAutoFit/>
          </a:bodyPr>
          <a:lstStyle/>
          <a:p>
            <a:pPr algn="l"/>
            <a:r>
              <a:rPr sz="2500" b="1">
                <a:solidFill>
                  <a:srgbClr val="162A3A"/>
                </a:solidFill>
                <a:latin typeface="Georgia"/>
              </a:rPr>
              <a:t>Compliance
Checker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60120" y="3310128"/>
            <a:ext cx="822960" cy="32918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0120" y="3355848"/>
            <a:ext cx="822960" cy="201168"/>
          </a:xfrm>
          <a:prstGeom prst="rect">
            <a:avLst/>
          </a:prstGeom>
          <a:noFill/>
        </p:spPr>
        <p:txBody>
          <a:bodyPr wrap="square" lIns="36576" rIns="36576" tIns="18288" anchor="t">
            <a:spAutoFit/>
          </a:bodyPr>
          <a:lstStyle/>
          <a:p>
            <a:pPr algn="ctr"/>
            <a:r>
              <a:rPr sz="1000" b="1">
                <a:solidFill>
                  <a:srgbClr val="1A7775"/>
                </a:solidFill>
                <a:latin typeface="Aptos"/>
              </a:rPr>
              <a:t>EXPORT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977639" y="1691640"/>
            <a:ext cx="2606040" cy="2011680"/>
          </a:xfrm>
          <a:prstGeom prst="roundRect">
            <a:avLst>
              <a:gd name="adj" fmla="val 12000"/>
            </a:avLst>
          </a:prstGeom>
          <a:solidFill>
            <a:srgbClr val="FAEFCF"/>
          </a:solidFill>
          <a:ln>
            <a:solidFill>
              <a:srgbClr val="FAEF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206240" y="1975104"/>
            <a:ext cx="914400" cy="274320"/>
          </a:xfrm>
          <a:prstGeom prst="rect">
            <a:avLst/>
          </a:prstGeom>
          <a:noFill/>
        </p:spPr>
        <p:txBody>
          <a:bodyPr wrap="square" lIns="36576" rIns="36576" tIns="18288" anchor="t">
            <a:spAutoFit/>
          </a:bodyPr>
          <a:lstStyle/>
          <a:p>
            <a:pPr algn="l"/>
            <a:r>
              <a:rPr sz="1800" b="1">
                <a:solidFill>
                  <a:srgbClr val="162A3A"/>
                </a:solidFill>
                <a:latin typeface="Aptos"/>
              </a:rPr>
              <a:t>UC4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06240" y="2542032"/>
            <a:ext cx="2057400" cy="685800"/>
          </a:xfrm>
          <a:prstGeom prst="rect">
            <a:avLst/>
          </a:prstGeom>
          <a:noFill/>
        </p:spPr>
        <p:txBody>
          <a:bodyPr wrap="square" lIns="36576" rIns="36576" tIns="18288" anchor="t">
            <a:spAutoFit/>
          </a:bodyPr>
          <a:lstStyle/>
          <a:p>
            <a:pPr algn="l"/>
            <a:r>
              <a:rPr sz="2500" b="1">
                <a:solidFill>
                  <a:srgbClr val="162A3A"/>
                </a:solidFill>
                <a:latin typeface="Georgia"/>
              </a:rPr>
              <a:t>Audit
Checklist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206240" y="3310128"/>
            <a:ext cx="822960" cy="32918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206240" y="3355848"/>
            <a:ext cx="822960" cy="201168"/>
          </a:xfrm>
          <a:prstGeom prst="rect">
            <a:avLst/>
          </a:prstGeom>
          <a:noFill/>
        </p:spPr>
        <p:txBody>
          <a:bodyPr wrap="square" lIns="36576" rIns="36576" tIns="18288" anchor="t">
            <a:spAutoFit/>
          </a:bodyPr>
          <a:lstStyle/>
          <a:p>
            <a:pPr algn="ctr"/>
            <a:r>
              <a:rPr sz="1000" b="1">
                <a:solidFill>
                  <a:srgbClr val="1A7775"/>
                </a:solidFill>
                <a:latin typeface="Aptos"/>
              </a:rPr>
              <a:t>EXPORT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223760" y="1691640"/>
            <a:ext cx="2606040" cy="2011680"/>
          </a:xfrm>
          <a:prstGeom prst="roundRect">
            <a:avLst>
              <a:gd name="adj" fmla="val 12000"/>
            </a:avLst>
          </a:prstGeom>
          <a:solidFill>
            <a:srgbClr val="FAE1DC"/>
          </a:solidFill>
          <a:ln>
            <a:solidFill>
              <a:srgbClr val="FAE1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452360" y="1975104"/>
            <a:ext cx="914400" cy="274320"/>
          </a:xfrm>
          <a:prstGeom prst="rect">
            <a:avLst/>
          </a:prstGeom>
          <a:noFill/>
        </p:spPr>
        <p:txBody>
          <a:bodyPr wrap="square" lIns="36576" rIns="36576" tIns="18288" anchor="t">
            <a:spAutoFit/>
          </a:bodyPr>
          <a:lstStyle/>
          <a:p>
            <a:pPr algn="l"/>
            <a:r>
              <a:rPr sz="1800" b="1">
                <a:solidFill>
                  <a:srgbClr val="CC574B"/>
                </a:solidFill>
                <a:latin typeface="Aptos"/>
              </a:rPr>
              <a:t>AUDIT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452360" y="2542032"/>
            <a:ext cx="2057400" cy="685800"/>
          </a:xfrm>
          <a:prstGeom prst="rect">
            <a:avLst/>
          </a:prstGeom>
          <a:noFill/>
        </p:spPr>
        <p:txBody>
          <a:bodyPr wrap="square" lIns="36576" rIns="36576" tIns="18288" anchor="t">
            <a:spAutoFit/>
          </a:bodyPr>
          <a:lstStyle/>
          <a:p>
            <a:pPr algn="l"/>
            <a:r>
              <a:rPr sz="2500" b="1">
                <a:solidFill>
                  <a:srgbClr val="162A3A"/>
                </a:solidFill>
                <a:latin typeface="Georgia"/>
              </a:rPr>
              <a:t>System
Trail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452360" y="3310128"/>
            <a:ext cx="822960" cy="32918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452360" y="3355848"/>
            <a:ext cx="822960" cy="201168"/>
          </a:xfrm>
          <a:prstGeom prst="rect">
            <a:avLst/>
          </a:prstGeom>
          <a:noFill/>
        </p:spPr>
        <p:txBody>
          <a:bodyPr wrap="square" lIns="36576" rIns="36576" tIns="18288" anchor="t">
            <a:spAutoFit/>
          </a:bodyPr>
          <a:lstStyle/>
          <a:p>
            <a:pPr algn="ctr"/>
            <a:r>
              <a:rPr sz="1000" b="1">
                <a:solidFill>
                  <a:srgbClr val="1A7775"/>
                </a:solidFill>
                <a:latin typeface="Aptos"/>
              </a:rPr>
              <a:t>EXPORT</a:t>
            </a:r>
          </a:p>
        </p:txBody>
      </p:sp>
      <p:sp>
        <p:nvSpPr>
          <p:cNvPr id="23" name="Right Arrow 22"/>
          <p:cNvSpPr/>
          <p:nvPr/>
        </p:nvSpPr>
        <p:spPr>
          <a:xfrm>
            <a:off x="3456432" y="2578608"/>
            <a:ext cx="384048" cy="292608"/>
          </a:xfrm>
          <a:prstGeom prst="rightArrow">
            <a:avLst/>
          </a:prstGeom>
          <a:solidFill>
            <a:srgbClr val="1A7775"/>
          </a:solidFill>
          <a:ln>
            <a:solidFill>
              <a:srgbClr val="1A77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ight Arrow 23"/>
          <p:cNvSpPr/>
          <p:nvPr/>
        </p:nvSpPr>
        <p:spPr>
          <a:xfrm>
            <a:off x="6693408" y="2578608"/>
            <a:ext cx="384048" cy="292608"/>
          </a:xfrm>
          <a:prstGeom prst="rightArrow">
            <a:avLst/>
          </a:prstGeom>
          <a:solidFill>
            <a:srgbClr val="1A7775"/>
          </a:solidFill>
          <a:ln>
            <a:solidFill>
              <a:srgbClr val="1A77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1051560" y="4343400"/>
            <a:ext cx="9966960" cy="822960"/>
          </a:xfrm>
          <a:prstGeom prst="roundRect">
            <a:avLst>
              <a:gd name="adj" fmla="val 12000"/>
            </a:avLst>
          </a:prstGeom>
          <a:solidFill>
            <a:srgbClr val="162A3A"/>
          </a:solidFill>
          <a:ln>
            <a:solidFill>
              <a:srgbClr val="162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325880" y="4590288"/>
            <a:ext cx="1920240" cy="228600"/>
          </a:xfrm>
          <a:prstGeom prst="rect">
            <a:avLst/>
          </a:prstGeom>
          <a:noFill/>
        </p:spPr>
        <p:txBody>
          <a:bodyPr wrap="square" lIns="36576" rIns="36576" tIns="18288" anchor="t">
            <a:spAutoFit/>
          </a:bodyPr>
          <a:lstStyle/>
          <a:p>
            <a:pPr algn="l"/>
            <a:r>
              <a:rPr sz="1400" b="1">
                <a:solidFill>
                  <a:srgbClr val="E0A643"/>
                </a:solidFill>
                <a:latin typeface="Aptos"/>
              </a:rPr>
              <a:t>Banner cảnh báo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337560" y="4572000"/>
            <a:ext cx="7132320" cy="256032"/>
          </a:xfrm>
          <a:prstGeom prst="rect">
            <a:avLst/>
          </a:prstGeom>
          <a:noFill/>
        </p:spPr>
        <p:txBody>
          <a:bodyPr wrap="square" lIns="36576" rIns="36576" tIns="18288" anchor="t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Aptos"/>
              </a:rPr>
              <a:t>Kết quả gợi ý cần kiểm toán viên xác minh trước khi ban hành.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6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A7775"/>
          </a:solidFill>
          <a:ln>
            <a:solidFill>
              <a:srgbClr val="1A77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84048"/>
            <a:ext cx="5669280" cy="228600"/>
          </a:xfrm>
          <a:prstGeom prst="rect">
            <a:avLst/>
          </a:prstGeom>
          <a:noFill/>
        </p:spPr>
        <p:txBody>
          <a:bodyPr wrap="square" lIns="36576" rIns="36576" tIns="18288" anchor="t">
            <a:spAutoFit/>
          </a:bodyPr>
          <a:lstStyle/>
          <a:p>
            <a:pPr algn="l"/>
            <a:r>
              <a:rPr sz="1000" b="1">
                <a:solidFill>
                  <a:srgbClr val="1A7775"/>
                </a:solidFill>
                <a:latin typeface="Aptos"/>
              </a:rPr>
              <a:t>BUỔI 18 / AI COMPLIANCE &amp; AUDIT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13232"/>
            <a:ext cx="10515600" cy="566928"/>
          </a:xfrm>
          <a:prstGeom prst="rect">
            <a:avLst/>
          </a:prstGeom>
          <a:noFill/>
        </p:spPr>
        <p:txBody>
          <a:bodyPr wrap="square" lIns="36576" rIns="36576" tIns="18288" anchor="t">
            <a:spAutoFit/>
          </a:bodyPr>
          <a:lstStyle/>
          <a:p>
            <a:pPr algn="l"/>
            <a:r>
              <a:rPr sz="2700" b="1">
                <a:solidFill>
                  <a:srgbClr val="162A3A"/>
                </a:solidFill>
                <a:latin typeface="Georgia"/>
              </a:rPr>
              <a:t>Kết quả kiểm thử: hệ thống đã sẵn sàng để trình diễn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402336"/>
            <a:ext cx="457200" cy="274320"/>
          </a:xfrm>
          <a:prstGeom prst="rect">
            <a:avLst/>
          </a:prstGeom>
          <a:noFill/>
        </p:spPr>
        <p:txBody>
          <a:bodyPr wrap="square" lIns="36576" rIns="36576" tIns="18288" anchor="t">
            <a:spAutoFit/>
          </a:bodyPr>
          <a:lstStyle/>
          <a:p>
            <a:pPr algn="r"/>
            <a:r>
              <a:rPr sz="1200" b="1">
                <a:solidFill>
                  <a:srgbClr val="5B6968"/>
                </a:solidFill>
                <a:latin typeface="Aptos"/>
              </a:rPr>
              <a:t>09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6382512"/>
            <a:ext cx="11155680" cy="10972"/>
          </a:xfrm>
          <a:prstGeom prst="rect">
            <a:avLst/>
          </a:prstGeom>
          <a:solidFill>
            <a:srgbClr val="D7E0DA"/>
          </a:solidFill>
          <a:ln>
            <a:solidFill>
              <a:srgbClr val="D7E0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7315200" cy="182880"/>
          </a:xfrm>
          <a:prstGeom prst="rect">
            <a:avLst/>
          </a:prstGeom>
          <a:noFill/>
        </p:spPr>
        <p:txBody>
          <a:bodyPr wrap="square" lIns="36576" rIns="36576" tIns="18288" anchor="t">
            <a:spAutoFit/>
          </a:bodyPr>
          <a:lstStyle/>
          <a:p>
            <a:pPr algn="l"/>
            <a:r>
              <a:rPr sz="900" b="0">
                <a:solidFill>
                  <a:srgbClr val="5B6968"/>
                </a:solidFill>
                <a:latin typeface="Aptos"/>
              </a:rPr>
              <a:t>Kết quả AI là bản nháp hỗ trợ kiểm toán viên, không thay thế quyết định con người.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691640"/>
            <a:ext cx="1920240" cy="18288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7E0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85800" y="1691640"/>
            <a:ext cx="1920240" cy="146304"/>
          </a:xfrm>
          <a:prstGeom prst="rect">
            <a:avLst/>
          </a:prstGeom>
          <a:solidFill>
            <a:srgbClr val="1A7775"/>
          </a:solidFill>
          <a:ln>
            <a:solidFill>
              <a:srgbClr val="1A77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1993392"/>
            <a:ext cx="457200" cy="228600"/>
          </a:xfrm>
          <a:prstGeom prst="rect">
            <a:avLst/>
          </a:prstGeom>
          <a:noFill/>
        </p:spPr>
        <p:txBody>
          <a:bodyPr wrap="square" lIns="36576" rIns="36576" tIns="18288" anchor="t">
            <a:spAutoFit/>
          </a:bodyPr>
          <a:lstStyle/>
          <a:p>
            <a:pPr algn="l"/>
            <a:r>
              <a:rPr sz="1300" b="1">
                <a:solidFill>
                  <a:srgbClr val="1A7775"/>
                </a:solidFill>
                <a:latin typeface="Aptos"/>
              </a:rPr>
              <a:t>P1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2468880"/>
            <a:ext cx="1554480" cy="411480"/>
          </a:xfrm>
          <a:prstGeom prst="rect">
            <a:avLst/>
          </a:prstGeom>
          <a:noFill/>
        </p:spPr>
        <p:txBody>
          <a:bodyPr wrap="square" lIns="36576" rIns="36576" tIns="18288" anchor="t">
            <a:spAutoFit/>
          </a:bodyPr>
          <a:lstStyle/>
          <a:p>
            <a:pPr algn="l"/>
            <a:r>
              <a:rPr sz="2300" b="1">
                <a:solidFill>
                  <a:srgbClr val="162A3A"/>
                </a:solidFill>
                <a:latin typeface="Georgia"/>
              </a:rPr>
              <a:t>10 domains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3127248"/>
            <a:ext cx="1554480" cy="219456"/>
          </a:xfrm>
          <a:prstGeom prst="rect">
            <a:avLst/>
          </a:prstGeom>
          <a:noFill/>
        </p:spPr>
        <p:txBody>
          <a:bodyPr wrap="square" lIns="36576" rIns="36576" tIns="18288" anchor="t">
            <a:spAutoFit/>
          </a:bodyPr>
          <a:lstStyle/>
          <a:p>
            <a:pPr algn="l"/>
            <a:r>
              <a:rPr sz="1000" b="1">
                <a:solidFill>
                  <a:srgbClr val="5B6968"/>
                </a:solidFill>
                <a:latin typeface="Aptos"/>
              </a:rPr>
              <a:t>CATALOG PASS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953512" y="1691640"/>
            <a:ext cx="1920240" cy="18288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7E0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953512" y="1691640"/>
            <a:ext cx="1920240" cy="146304"/>
          </a:xfrm>
          <a:prstGeom prst="rect">
            <a:avLst/>
          </a:prstGeom>
          <a:solidFill>
            <a:srgbClr val="E0A643"/>
          </a:solidFill>
          <a:ln>
            <a:solidFill>
              <a:srgbClr val="E0A6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136392" y="1993392"/>
            <a:ext cx="457200" cy="228600"/>
          </a:xfrm>
          <a:prstGeom prst="rect">
            <a:avLst/>
          </a:prstGeom>
          <a:noFill/>
        </p:spPr>
        <p:txBody>
          <a:bodyPr wrap="square" lIns="36576" rIns="36576" tIns="18288" anchor="t">
            <a:spAutoFit/>
          </a:bodyPr>
          <a:lstStyle/>
          <a:p>
            <a:pPr algn="l"/>
            <a:r>
              <a:rPr sz="1300" b="1">
                <a:solidFill>
                  <a:srgbClr val="E0A643"/>
                </a:solidFill>
                <a:latin typeface="Aptos"/>
              </a:rPr>
              <a:t>P2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136392" y="2468880"/>
            <a:ext cx="1554480" cy="411480"/>
          </a:xfrm>
          <a:prstGeom prst="rect">
            <a:avLst/>
          </a:prstGeom>
          <a:noFill/>
        </p:spPr>
        <p:txBody>
          <a:bodyPr wrap="square" lIns="36576" rIns="36576" tIns="18288" anchor="t">
            <a:spAutoFit/>
          </a:bodyPr>
          <a:lstStyle/>
          <a:p>
            <a:pPr algn="l"/>
            <a:r>
              <a:rPr sz="2300" b="1">
                <a:solidFill>
                  <a:srgbClr val="162A3A"/>
                </a:solidFill>
                <a:latin typeface="Georgia"/>
              </a:rPr>
              <a:t>3 findings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136392" y="3127248"/>
            <a:ext cx="1554480" cy="219456"/>
          </a:xfrm>
          <a:prstGeom prst="rect">
            <a:avLst/>
          </a:prstGeom>
          <a:noFill/>
        </p:spPr>
        <p:txBody>
          <a:bodyPr wrap="square" lIns="36576" rIns="36576" tIns="18288" anchor="t">
            <a:spAutoFit/>
          </a:bodyPr>
          <a:lstStyle/>
          <a:p>
            <a:pPr algn="l"/>
            <a:r>
              <a:rPr sz="1000" b="1">
                <a:solidFill>
                  <a:srgbClr val="5B6968"/>
                </a:solidFill>
                <a:latin typeface="Aptos"/>
              </a:rPr>
              <a:t>CHECKER PASS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221224" y="1691640"/>
            <a:ext cx="1920240" cy="18288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7E0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221224" y="1691640"/>
            <a:ext cx="1920240" cy="146304"/>
          </a:xfrm>
          <a:prstGeom prst="rect">
            <a:avLst/>
          </a:prstGeom>
          <a:solidFill>
            <a:srgbClr val="CC574B"/>
          </a:solidFill>
          <a:ln>
            <a:solidFill>
              <a:srgbClr val="CC57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404104" y="1993392"/>
            <a:ext cx="457200" cy="228600"/>
          </a:xfrm>
          <a:prstGeom prst="rect">
            <a:avLst/>
          </a:prstGeom>
          <a:noFill/>
        </p:spPr>
        <p:txBody>
          <a:bodyPr wrap="square" lIns="36576" rIns="36576" tIns="18288" anchor="t">
            <a:spAutoFit/>
          </a:bodyPr>
          <a:lstStyle/>
          <a:p>
            <a:pPr algn="l"/>
            <a:r>
              <a:rPr sz="1300" b="1">
                <a:solidFill>
                  <a:srgbClr val="CC574B"/>
                </a:solidFill>
                <a:latin typeface="Aptos"/>
              </a:rPr>
              <a:t>P3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04104" y="2468880"/>
            <a:ext cx="1554480" cy="411480"/>
          </a:xfrm>
          <a:prstGeom prst="rect">
            <a:avLst/>
          </a:prstGeom>
          <a:noFill/>
        </p:spPr>
        <p:txBody>
          <a:bodyPr wrap="square" lIns="36576" rIns="36576" tIns="18288" anchor="t">
            <a:spAutoFit/>
          </a:bodyPr>
          <a:lstStyle/>
          <a:p>
            <a:pPr algn="l"/>
            <a:r>
              <a:rPr sz="2300" b="1">
                <a:solidFill>
                  <a:srgbClr val="162A3A"/>
                </a:solidFill>
                <a:latin typeface="Georgia"/>
              </a:rPr>
              <a:t>6 checklist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04104" y="3127248"/>
            <a:ext cx="1554480" cy="219456"/>
          </a:xfrm>
          <a:prstGeom prst="rect">
            <a:avLst/>
          </a:prstGeom>
          <a:noFill/>
        </p:spPr>
        <p:txBody>
          <a:bodyPr wrap="square" lIns="36576" rIns="36576" tIns="18288" anchor="t">
            <a:spAutoFit/>
          </a:bodyPr>
          <a:lstStyle/>
          <a:p>
            <a:pPr algn="l"/>
            <a:r>
              <a:rPr sz="1000" b="1">
                <a:solidFill>
                  <a:srgbClr val="5B6968"/>
                </a:solidFill>
                <a:latin typeface="Aptos"/>
              </a:rPr>
              <a:t>GENERATOR PASS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488936" y="1691640"/>
            <a:ext cx="1920240" cy="18288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7E0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7488936" y="1691640"/>
            <a:ext cx="1920240" cy="146304"/>
          </a:xfrm>
          <a:prstGeom prst="rect">
            <a:avLst/>
          </a:prstGeom>
          <a:solidFill>
            <a:srgbClr val="1A7775"/>
          </a:solidFill>
          <a:ln>
            <a:solidFill>
              <a:srgbClr val="1A77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671815" y="1993392"/>
            <a:ext cx="457200" cy="228600"/>
          </a:xfrm>
          <a:prstGeom prst="rect">
            <a:avLst/>
          </a:prstGeom>
          <a:noFill/>
        </p:spPr>
        <p:txBody>
          <a:bodyPr wrap="square" lIns="36576" rIns="36576" tIns="18288" anchor="t">
            <a:spAutoFit/>
          </a:bodyPr>
          <a:lstStyle/>
          <a:p>
            <a:pPr algn="l"/>
            <a:r>
              <a:rPr sz="1300" b="1">
                <a:solidFill>
                  <a:srgbClr val="1A7775"/>
                </a:solidFill>
                <a:latin typeface="Aptos"/>
              </a:rPr>
              <a:t>P5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671815" y="2468880"/>
            <a:ext cx="1554480" cy="411480"/>
          </a:xfrm>
          <a:prstGeom prst="rect">
            <a:avLst/>
          </a:prstGeom>
          <a:noFill/>
        </p:spPr>
        <p:txBody>
          <a:bodyPr wrap="square" lIns="36576" rIns="36576" tIns="18288" anchor="t">
            <a:spAutoFit/>
          </a:bodyPr>
          <a:lstStyle/>
          <a:p>
            <a:pPr algn="l"/>
            <a:r>
              <a:rPr sz="2300" b="1">
                <a:solidFill>
                  <a:srgbClr val="162A3A"/>
                </a:solidFill>
                <a:latin typeface="Georgia"/>
              </a:rPr>
              <a:t>7 / 7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671815" y="3127248"/>
            <a:ext cx="1554480" cy="219456"/>
          </a:xfrm>
          <a:prstGeom prst="rect">
            <a:avLst/>
          </a:prstGeom>
          <a:noFill/>
        </p:spPr>
        <p:txBody>
          <a:bodyPr wrap="square" lIns="36576" rIns="36576" tIns="18288" anchor="t">
            <a:spAutoFit/>
          </a:bodyPr>
          <a:lstStyle/>
          <a:p>
            <a:pPr algn="l"/>
            <a:r>
              <a:rPr sz="1000" b="1">
                <a:solidFill>
                  <a:srgbClr val="5B6968"/>
                </a:solidFill>
                <a:latin typeface="Aptos"/>
              </a:rPr>
              <a:t>SECURITY PASS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756648" y="1691640"/>
            <a:ext cx="1920240" cy="18288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7E0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9756648" y="1691640"/>
            <a:ext cx="1920240" cy="146304"/>
          </a:xfrm>
          <a:prstGeom prst="rect">
            <a:avLst/>
          </a:prstGeom>
          <a:solidFill>
            <a:srgbClr val="162A3A"/>
          </a:solidFill>
          <a:ln>
            <a:solidFill>
              <a:srgbClr val="162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939528" y="1993392"/>
            <a:ext cx="457200" cy="228600"/>
          </a:xfrm>
          <a:prstGeom prst="rect">
            <a:avLst/>
          </a:prstGeom>
          <a:noFill/>
        </p:spPr>
        <p:txBody>
          <a:bodyPr wrap="square" lIns="36576" rIns="36576" tIns="18288" anchor="t">
            <a:spAutoFit/>
          </a:bodyPr>
          <a:lstStyle/>
          <a:p>
            <a:pPr algn="l"/>
            <a:r>
              <a:rPr sz="1300" b="1">
                <a:solidFill>
                  <a:srgbClr val="162A3A"/>
                </a:solidFill>
                <a:latin typeface="Aptos"/>
              </a:rPr>
              <a:t>P6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939528" y="2468880"/>
            <a:ext cx="1554480" cy="411480"/>
          </a:xfrm>
          <a:prstGeom prst="rect">
            <a:avLst/>
          </a:prstGeom>
          <a:noFill/>
        </p:spPr>
        <p:txBody>
          <a:bodyPr wrap="square" lIns="36576" rIns="36576" tIns="18288" anchor="t">
            <a:spAutoFit/>
          </a:bodyPr>
          <a:lstStyle/>
          <a:p>
            <a:pPr algn="l"/>
            <a:r>
              <a:rPr sz="2300" b="1">
                <a:solidFill>
                  <a:srgbClr val="162A3A"/>
                </a:solidFill>
                <a:latin typeface="Georgia"/>
              </a:rPr>
              <a:t>8 / 8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939528" y="3127248"/>
            <a:ext cx="1554480" cy="219456"/>
          </a:xfrm>
          <a:prstGeom prst="rect">
            <a:avLst/>
          </a:prstGeom>
          <a:noFill/>
        </p:spPr>
        <p:txBody>
          <a:bodyPr wrap="square" lIns="36576" rIns="36576" tIns="18288" anchor="t">
            <a:spAutoFit/>
          </a:bodyPr>
          <a:lstStyle/>
          <a:p>
            <a:pPr algn="l"/>
            <a:r>
              <a:rPr sz="1000" b="1">
                <a:solidFill>
                  <a:srgbClr val="5B6968"/>
                </a:solidFill>
                <a:latin typeface="Aptos"/>
              </a:rPr>
              <a:t>VALIDATION PASS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914400" y="4315968"/>
            <a:ext cx="10332720" cy="914400"/>
          </a:xfrm>
          <a:prstGeom prst="roundRect">
            <a:avLst>
              <a:gd name="adj" fmla="val 12000"/>
            </a:avLst>
          </a:prstGeom>
          <a:solidFill>
            <a:srgbClr val="DAEFE7"/>
          </a:solidFill>
          <a:ln>
            <a:solidFill>
              <a:srgbClr val="DAEF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143000" y="4590288"/>
            <a:ext cx="9875520" cy="320040"/>
          </a:xfrm>
          <a:prstGeom prst="rect">
            <a:avLst/>
          </a:prstGeom>
          <a:noFill/>
        </p:spPr>
        <p:txBody>
          <a:bodyPr wrap="square" lIns="36576" rIns="36576" tIns="18288" anchor="t">
            <a:spAutoFit/>
          </a:bodyPr>
          <a:lstStyle/>
          <a:p>
            <a:pPr algn="ctr"/>
            <a:r>
              <a:rPr sz="2500" b="1">
                <a:solidFill>
                  <a:srgbClr val="1A7775"/>
                </a:solidFill>
                <a:latin typeface="Georgia"/>
              </a:rPr>
              <a:t>SYSTEM READY FOR DEMO: YES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6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A7775"/>
          </a:solidFill>
          <a:ln>
            <a:solidFill>
              <a:srgbClr val="1A77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84048"/>
            <a:ext cx="5669280" cy="228600"/>
          </a:xfrm>
          <a:prstGeom prst="rect">
            <a:avLst/>
          </a:prstGeom>
          <a:noFill/>
        </p:spPr>
        <p:txBody>
          <a:bodyPr wrap="square" lIns="36576" rIns="36576" tIns="18288" anchor="t">
            <a:spAutoFit/>
          </a:bodyPr>
          <a:lstStyle/>
          <a:p>
            <a:pPr algn="l"/>
            <a:r>
              <a:rPr sz="1000" b="1">
                <a:solidFill>
                  <a:srgbClr val="1A7775"/>
                </a:solidFill>
                <a:latin typeface="Aptos"/>
              </a:rPr>
              <a:t>BUỔI 18 / AI COMPLIANCE &amp; AUDIT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13232"/>
            <a:ext cx="10515600" cy="566928"/>
          </a:xfrm>
          <a:prstGeom prst="rect">
            <a:avLst/>
          </a:prstGeom>
          <a:noFill/>
        </p:spPr>
        <p:txBody>
          <a:bodyPr wrap="square" lIns="36576" rIns="36576" tIns="18288" anchor="t">
            <a:spAutoFit/>
          </a:bodyPr>
          <a:lstStyle/>
          <a:p>
            <a:pPr algn="l"/>
            <a:r>
              <a:rPr sz="2700" b="1">
                <a:solidFill>
                  <a:srgbClr val="162A3A"/>
                </a:solidFill>
                <a:latin typeface="Georgia"/>
              </a:rPr>
              <a:t>Thông điệp mang về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402336"/>
            <a:ext cx="457200" cy="274320"/>
          </a:xfrm>
          <a:prstGeom prst="rect">
            <a:avLst/>
          </a:prstGeom>
          <a:noFill/>
        </p:spPr>
        <p:txBody>
          <a:bodyPr wrap="square" lIns="36576" rIns="36576" tIns="18288" anchor="t">
            <a:spAutoFit/>
          </a:bodyPr>
          <a:lstStyle/>
          <a:p>
            <a:pPr algn="r"/>
            <a:r>
              <a:rPr sz="1200" b="1">
                <a:solidFill>
                  <a:srgbClr val="5B6968"/>
                </a:solidFill>
                <a:latin typeface="Aptos"/>
              </a:rPr>
              <a:t>10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6382512"/>
            <a:ext cx="11155680" cy="10972"/>
          </a:xfrm>
          <a:prstGeom prst="rect">
            <a:avLst/>
          </a:prstGeom>
          <a:solidFill>
            <a:srgbClr val="D7E0DA"/>
          </a:solidFill>
          <a:ln>
            <a:solidFill>
              <a:srgbClr val="D7E0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7315200" cy="182880"/>
          </a:xfrm>
          <a:prstGeom prst="rect">
            <a:avLst/>
          </a:prstGeom>
          <a:noFill/>
        </p:spPr>
        <p:txBody>
          <a:bodyPr wrap="square" lIns="36576" rIns="36576" tIns="18288" anchor="t">
            <a:spAutoFit/>
          </a:bodyPr>
          <a:lstStyle/>
          <a:p>
            <a:pPr algn="l"/>
            <a:r>
              <a:rPr sz="900" b="0">
                <a:solidFill>
                  <a:srgbClr val="5B6968"/>
                </a:solidFill>
                <a:latin typeface="Aptos"/>
              </a:rPr>
              <a:t>Kết quả AI là bản nháp hỗ trợ kiểm toán viên, không thay thế quyết định con người.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508760"/>
            <a:ext cx="10332720" cy="457200"/>
          </a:xfrm>
          <a:prstGeom prst="rect">
            <a:avLst/>
          </a:prstGeom>
          <a:noFill/>
        </p:spPr>
        <p:txBody>
          <a:bodyPr wrap="square" lIns="36576" rIns="36576" tIns="18288" anchor="t">
            <a:spAutoFit/>
          </a:bodyPr>
          <a:lstStyle/>
          <a:p>
            <a:pPr algn="ctr"/>
            <a:r>
              <a:rPr sz="2500" b="1">
                <a:solidFill>
                  <a:srgbClr val="162A3A"/>
                </a:solidFill>
                <a:latin typeface="Georgia"/>
              </a:rPr>
              <a:t>Một hệ thống compliance tốt không chỉ trả lời nhanh.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2240280"/>
            <a:ext cx="9784080" cy="914400"/>
          </a:xfrm>
          <a:prstGeom prst="rect">
            <a:avLst/>
          </a:prstGeom>
          <a:noFill/>
        </p:spPr>
        <p:txBody>
          <a:bodyPr wrap="square" lIns="36576" rIns="36576" tIns="18288" anchor="t">
            <a:spAutoFit/>
          </a:bodyPr>
          <a:lstStyle/>
          <a:p>
            <a:pPr algn="ctr"/>
            <a:r>
              <a:rPr sz="2800" b="1">
                <a:solidFill>
                  <a:srgbClr val="1A7775"/>
                </a:solidFill>
                <a:latin typeface="Georgia"/>
              </a:rPr>
              <a:t>Nó phải trả lời từ đúng nguồn, đúng quyền,
đúng citation và đúng người chịu trách nhiệm cuối cùng.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51560" y="3977639"/>
            <a:ext cx="2148840" cy="822960"/>
          </a:xfrm>
          <a:prstGeom prst="roundRect">
            <a:avLst>
              <a:gd name="adj" fmla="val 12000"/>
            </a:avLst>
          </a:prstGeom>
          <a:solidFill>
            <a:srgbClr val="DAEFE7"/>
          </a:solidFill>
          <a:ln>
            <a:solidFill>
              <a:srgbClr val="DAEF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51560" y="4251960"/>
            <a:ext cx="2148840" cy="274320"/>
          </a:xfrm>
          <a:prstGeom prst="rect">
            <a:avLst/>
          </a:prstGeom>
          <a:noFill/>
        </p:spPr>
        <p:txBody>
          <a:bodyPr wrap="square" lIns="36576" rIns="36576" tIns="18288" anchor="t">
            <a:spAutoFit/>
          </a:bodyPr>
          <a:lstStyle/>
          <a:p>
            <a:pPr algn="ctr"/>
            <a:r>
              <a:rPr sz="1500" b="1">
                <a:solidFill>
                  <a:srgbClr val="162A3A"/>
                </a:solidFill>
                <a:latin typeface="Aptos"/>
              </a:rPr>
              <a:t>SOURCE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3264408" y="4233672"/>
            <a:ext cx="320040" cy="292608"/>
          </a:xfrm>
          <a:prstGeom prst="rightArrow">
            <a:avLst/>
          </a:prstGeom>
          <a:solidFill>
            <a:srgbClr val="E0A643"/>
          </a:solidFill>
          <a:ln>
            <a:solidFill>
              <a:srgbClr val="E0A6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3794760" y="3977639"/>
            <a:ext cx="2148840" cy="822960"/>
          </a:xfrm>
          <a:prstGeom prst="roundRect">
            <a:avLst>
              <a:gd name="adj" fmla="val 12000"/>
            </a:avLst>
          </a:prstGeom>
          <a:solidFill>
            <a:srgbClr val="FAEFCF"/>
          </a:solidFill>
          <a:ln>
            <a:solidFill>
              <a:srgbClr val="FAEF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794760" y="4251960"/>
            <a:ext cx="2148840" cy="274320"/>
          </a:xfrm>
          <a:prstGeom prst="rect">
            <a:avLst/>
          </a:prstGeom>
          <a:noFill/>
        </p:spPr>
        <p:txBody>
          <a:bodyPr wrap="square" lIns="36576" rIns="36576" tIns="18288" anchor="t">
            <a:spAutoFit/>
          </a:bodyPr>
          <a:lstStyle/>
          <a:p>
            <a:pPr algn="ctr"/>
            <a:r>
              <a:rPr sz="1500" b="1">
                <a:solidFill>
                  <a:srgbClr val="162A3A"/>
                </a:solidFill>
                <a:latin typeface="Aptos"/>
              </a:rPr>
              <a:t>ACCESS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6007608" y="4233672"/>
            <a:ext cx="320040" cy="292608"/>
          </a:xfrm>
          <a:prstGeom prst="rightArrow">
            <a:avLst/>
          </a:prstGeom>
          <a:solidFill>
            <a:srgbClr val="E0A643"/>
          </a:solidFill>
          <a:ln>
            <a:solidFill>
              <a:srgbClr val="E0A6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537960" y="3977639"/>
            <a:ext cx="2148840" cy="822960"/>
          </a:xfrm>
          <a:prstGeom prst="roundRect">
            <a:avLst>
              <a:gd name="adj" fmla="val 12000"/>
            </a:avLst>
          </a:prstGeom>
          <a:solidFill>
            <a:srgbClr val="FAE1DC"/>
          </a:solidFill>
          <a:ln>
            <a:solidFill>
              <a:srgbClr val="FAE1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37960" y="4251960"/>
            <a:ext cx="2148840" cy="274320"/>
          </a:xfrm>
          <a:prstGeom prst="rect">
            <a:avLst/>
          </a:prstGeom>
          <a:noFill/>
        </p:spPr>
        <p:txBody>
          <a:bodyPr wrap="square" lIns="36576" rIns="36576" tIns="18288" anchor="t">
            <a:spAutoFit/>
          </a:bodyPr>
          <a:lstStyle/>
          <a:p>
            <a:pPr algn="ctr"/>
            <a:r>
              <a:rPr sz="1500" b="1">
                <a:solidFill>
                  <a:srgbClr val="162A3A"/>
                </a:solidFill>
                <a:latin typeface="Aptos"/>
              </a:rPr>
              <a:t>EVIDENCE</a:t>
            </a:r>
          </a:p>
        </p:txBody>
      </p:sp>
      <p:sp>
        <p:nvSpPr>
          <p:cNvPr id="18" name="Right Arrow 17"/>
          <p:cNvSpPr/>
          <p:nvPr/>
        </p:nvSpPr>
        <p:spPr>
          <a:xfrm>
            <a:off x="8750808" y="4233672"/>
            <a:ext cx="320040" cy="292608"/>
          </a:xfrm>
          <a:prstGeom prst="rightArrow">
            <a:avLst/>
          </a:prstGeom>
          <a:solidFill>
            <a:srgbClr val="E0A643"/>
          </a:solidFill>
          <a:ln>
            <a:solidFill>
              <a:srgbClr val="E0A6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9281160" y="3977639"/>
            <a:ext cx="2148840" cy="822960"/>
          </a:xfrm>
          <a:prstGeom prst="roundRect">
            <a:avLst>
              <a:gd name="adj" fmla="val 12000"/>
            </a:avLst>
          </a:prstGeom>
          <a:solidFill>
            <a:srgbClr val="DAEFE7"/>
          </a:solidFill>
          <a:ln>
            <a:solidFill>
              <a:srgbClr val="DAEF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281160" y="4251960"/>
            <a:ext cx="2148840" cy="274320"/>
          </a:xfrm>
          <a:prstGeom prst="rect">
            <a:avLst/>
          </a:prstGeom>
          <a:noFill/>
        </p:spPr>
        <p:txBody>
          <a:bodyPr wrap="square" lIns="36576" rIns="36576" tIns="18288" anchor="t">
            <a:spAutoFit/>
          </a:bodyPr>
          <a:lstStyle/>
          <a:p>
            <a:pPr algn="ctr"/>
            <a:r>
              <a:rPr sz="1500" b="1">
                <a:solidFill>
                  <a:srgbClr val="162A3A"/>
                </a:solidFill>
                <a:latin typeface="Aptos"/>
              </a:rPr>
              <a:t>REVIEW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754880" y="5486400"/>
            <a:ext cx="2651760" cy="411480"/>
          </a:xfrm>
          <a:prstGeom prst="rect">
            <a:avLst/>
          </a:prstGeom>
          <a:noFill/>
        </p:spPr>
        <p:txBody>
          <a:bodyPr wrap="square" lIns="36576" rIns="36576" tIns="18288" anchor="t">
            <a:spAutoFit/>
          </a:bodyPr>
          <a:lstStyle/>
          <a:p>
            <a:pPr algn="ctr"/>
            <a:r>
              <a:rPr sz="2500" b="1">
                <a:solidFill>
                  <a:srgbClr val="E0A643"/>
                </a:solidFill>
                <a:latin typeface="Georgia"/>
              </a:rPr>
              <a:t>Cảm ơn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